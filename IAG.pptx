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1" r:id="rId2"/>
  </p:sldMasterIdLst>
  <p:notesMasterIdLst>
    <p:notesMasterId r:id="rId29"/>
  </p:notesMasterIdLst>
  <p:sldIdLst>
    <p:sldId id="256" r:id="rId3"/>
    <p:sldId id="336" r:id="rId4"/>
    <p:sldId id="570" r:id="rId5"/>
    <p:sldId id="571" r:id="rId6"/>
    <p:sldId id="503" r:id="rId7"/>
    <p:sldId id="572" r:id="rId8"/>
    <p:sldId id="548" r:id="rId9"/>
    <p:sldId id="581" r:id="rId10"/>
    <p:sldId id="580" r:id="rId11"/>
    <p:sldId id="578" r:id="rId12"/>
    <p:sldId id="582" r:id="rId13"/>
    <p:sldId id="573" r:id="rId14"/>
    <p:sldId id="583" r:id="rId15"/>
    <p:sldId id="552" r:id="rId16"/>
    <p:sldId id="579" r:id="rId17"/>
    <p:sldId id="576" r:id="rId18"/>
    <p:sldId id="577" r:id="rId19"/>
    <p:sldId id="551" r:id="rId20"/>
    <p:sldId id="501" r:id="rId21"/>
    <p:sldId id="550" r:id="rId22"/>
    <p:sldId id="554" r:id="rId23"/>
    <p:sldId id="545" r:id="rId24"/>
    <p:sldId id="547" r:id="rId25"/>
    <p:sldId id="584" r:id="rId26"/>
    <p:sldId id="574" r:id="rId27"/>
    <p:sldId id="585" r:id="rId28"/>
  </p:sldIdLst>
  <p:sldSz cx="9144000" cy="5143500" type="screen16x9"/>
  <p:notesSz cx="5143500" cy="9144000"/>
  <p:defaultTextStyle>
    <a:defPPr>
      <a:defRPr lang="de-DE"/>
    </a:defPPr>
    <a:lvl1pPr algn="l">
      <a:spcBef>
        <a:spcPts val="0"/>
      </a:spcBef>
      <a:spcAft>
        <a:spcPts val="0"/>
      </a:spcAft>
      <a:defRPr>
        <a:solidFill>
          <a:schemeClr val="tx1"/>
        </a:solidFill>
        <a:latin typeface="Arial"/>
        <a:ea typeface="+mn-ea"/>
        <a:cs typeface="Arial"/>
      </a:defRPr>
    </a:lvl1pPr>
    <a:lvl2pPr marL="457200" algn="l">
      <a:spcBef>
        <a:spcPts val="0"/>
      </a:spcBef>
      <a:spcAft>
        <a:spcPts val="0"/>
      </a:spcAft>
      <a:defRPr>
        <a:solidFill>
          <a:schemeClr val="tx1"/>
        </a:solidFill>
        <a:latin typeface="Arial"/>
        <a:ea typeface="+mn-ea"/>
        <a:cs typeface="Arial"/>
      </a:defRPr>
    </a:lvl2pPr>
    <a:lvl3pPr marL="914400" algn="l">
      <a:spcBef>
        <a:spcPts val="0"/>
      </a:spcBef>
      <a:spcAft>
        <a:spcPts val="0"/>
      </a:spcAft>
      <a:defRPr>
        <a:solidFill>
          <a:schemeClr val="tx1"/>
        </a:solidFill>
        <a:latin typeface="Arial"/>
        <a:ea typeface="+mn-ea"/>
        <a:cs typeface="Arial"/>
      </a:defRPr>
    </a:lvl3pPr>
    <a:lvl4pPr marL="1371600" algn="l">
      <a:spcBef>
        <a:spcPts val="0"/>
      </a:spcBef>
      <a:spcAft>
        <a:spcPts val="0"/>
      </a:spcAft>
      <a:defRPr>
        <a:solidFill>
          <a:schemeClr val="tx1"/>
        </a:solidFill>
        <a:latin typeface="Arial"/>
        <a:ea typeface="+mn-ea"/>
        <a:cs typeface="Arial"/>
      </a:defRPr>
    </a:lvl4pPr>
    <a:lvl5pPr marL="1828800" algn="l">
      <a:spcBef>
        <a:spcPts val="0"/>
      </a:spcBef>
      <a:spcAft>
        <a:spcPts val="0"/>
      </a:spcAft>
      <a:defRPr>
        <a:solidFill>
          <a:schemeClr val="tx1"/>
        </a:solidFill>
        <a:latin typeface="Arial"/>
        <a:ea typeface="+mn-ea"/>
        <a:cs typeface="Arial"/>
      </a:defRPr>
    </a:lvl5pPr>
    <a:lvl6pPr marL="2286000" algn="l" defTabSz="914400">
      <a:defRPr>
        <a:solidFill>
          <a:schemeClr val="tx1"/>
        </a:solidFill>
        <a:latin typeface="Arial"/>
        <a:ea typeface="+mn-ea"/>
        <a:cs typeface="Arial"/>
      </a:defRPr>
    </a:lvl6pPr>
    <a:lvl7pPr marL="2743200" algn="l" defTabSz="914400">
      <a:defRPr>
        <a:solidFill>
          <a:schemeClr val="tx1"/>
        </a:solidFill>
        <a:latin typeface="Arial"/>
        <a:ea typeface="+mn-ea"/>
        <a:cs typeface="Arial"/>
      </a:defRPr>
    </a:lvl7pPr>
    <a:lvl8pPr marL="3200400" algn="l" defTabSz="914400">
      <a:defRPr>
        <a:solidFill>
          <a:schemeClr val="tx1"/>
        </a:solidFill>
        <a:latin typeface="Arial"/>
        <a:ea typeface="+mn-ea"/>
        <a:cs typeface="Arial"/>
      </a:defRPr>
    </a:lvl8pPr>
    <a:lvl9pPr marL="3657600" algn="l" defTabSz="914400">
      <a:defRPr>
        <a:solidFill>
          <a:schemeClr val="tx1"/>
        </a:solidFill>
        <a:latin typeface="Arial"/>
        <a:ea typeface="+mn-ea"/>
        <a:cs typeface="Arial"/>
      </a:defRPr>
    </a:lvl9pPr>
  </p:defaultTextStyle>
  <p:extLst>
    <p:ext uri="{EFAFB233-063F-42B5-8137-9DF3F51BA10A}">
      <p15:sldGuideLst xmlns:p15="http://schemas.microsoft.com/office/powerpoint/2012/main">
        <p15:guide id="1" orient="horz" pos="2164"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00589C"/>
    <a:srgbClr val="04D5DA"/>
    <a:srgbClr val="FF3399"/>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8D5F592-2855-65B9-D52E-AB78FC37AEC0}">
  <a:tblStyle styleId="{28D5F592-2855-65B9-D52E-AB78FC37AEC0}" styleName="Mittlere Formatvorlage 1 - Akzent 1">
    <a:wholeTbl>
      <a:tcTxStyle>
        <a:fontRef idx="minor">
          <a:srgbClr val="000000"/>
        </a:fontRef>
        <a:schemeClr val="dk1"/>
      </a:tcTxStyle>
      <a:tcStyle>
        <a:tcBdr>
          <a:left>
            <a:ln w="12700">
              <a:solidFill>
                <a:schemeClr val="accent1"/>
              </a:solidFill>
            </a:ln>
          </a:left>
          <a:right>
            <a:ln w="12700">
              <a:solidFill>
                <a:schemeClr val="accent1"/>
              </a:solidFill>
            </a:ln>
          </a:right>
          <a:top>
            <a:ln w="12700">
              <a:solidFill>
                <a:schemeClr val="accent1"/>
              </a:solidFill>
            </a:ln>
          </a:top>
          <a:bottom>
            <a:ln w="12700">
              <a:solidFill>
                <a:schemeClr val="accent1"/>
              </a:solidFill>
            </a:ln>
          </a:bottom>
          <a:insideH>
            <a:ln w="12700">
              <a:solidFill>
                <a:schemeClr val="accent1"/>
              </a:solidFill>
            </a:ln>
          </a:insideH>
          <a:insideV>
            <a:ln w="12700">
              <a:noFill/>
            </a:ln>
          </a:insideV>
        </a:tcBdr>
        <a:fill>
          <a:solidFill>
            <a:schemeClr val="lt1"/>
          </a:solidFill>
        </a:fill>
      </a:tcStyle>
    </a:wholeTbl>
    <a:band1H>
      <a:tcStyle>
        <a:tcBdr/>
        <a:fill>
          <a:solidFill>
            <a:schemeClr val="accent1">
              <a:tint val="20000"/>
            </a:schemeClr>
          </a:solidFill>
        </a:fill>
      </a:tcStyle>
    </a:band1H>
    <a:band2H>
      <a:tcStyle>
        <a:tcBdr/>
      </a:tcStyle>
    </a:band2H>
    <a:band1V>
      <a:tcStyle>
        <a:tcBdr/>
        <a:fill>
          <a:solidFill>
            <a:schemeClr val="accent1">
              <a:tint val="20000"/>
            </a:schemeClr>
          </a:solidFill>
        </a:fill>
      </a:tcStyle>
    </a:band1V>
    <a:band2V>
      <a:tcStyle>
        <a:tcBdr/>
        <a:fill>
          <a:solidFill>
            <a:schemeClr val="accent1">
              <a:tint val="20000"/>
            </a:schemeClr>
          </a:solidFill>
        </a:fill>
      </a:tcStyle>
    </a:band2V>
    <a:lastCol>
      <a:tcStyle>
        <a:tcBdr/>
      </a:tcStyle>
    </a:lastCol>
    <a:firstCol>
      <a:tcStyle>
        <a:tcBdr/>
      </a:tcStyle>
    </a:firstCol>
    <a:lastRow>
      <a:tcStyle>
        <a:tcBdr>
          <a:top>
            <a:ln w="50800">
              <a:solidFill>
                <a:schemeClr val="accent1"/>
              </a:solidFill>
            </a:ln>
          </a:top>
        </a:tcBdr>
        <a:fill>
          <a:solidFill>
            <a:schemeClr val="lt1"/>
          </a:solidFill>
        </a:fill>
      </a:tcStyle>
    </a:lastRow>
    <a:seCell>
      <a:tcStyle>
        <a:tcBdr/>
      </a:tcStyle>
    </a:seCell>
    <a:swCell>
      <a:tcStyle>
        <a:tcBdr/>
      </a:tcStyle>
    </a:swCell>
    <a:firstRow>
      <a:tcTxStyle b="on">
        <a:fontRef idx="minor">
          <a:srgbClr val="000000"/>
        </a:fontRef>
        <a:schemeClr val="lt1"/>
      </a:tcTxStyle>
      <a:tcStyle>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31" autoAdjust="0"/>
    <p:restoredTop sz="90170" autoAdjust="0"/>
  </p:normalViewPr>
  <p:slideViewPr>
    <p:cSldViewPr>
      <p:cViewPr varScale="1">
        <p:scale>
          <a:sx n="114" d="100"/>
          <a:sy n="114" d="100"/>
        </p:scale>
        <p:origin x="984" y="68"/>
      </p:cViewPr>
      <p:guideLst>
        <p:guide orient="horz" pos="2164"/>
        <p:guide pos="2880"/>
      </p:guideLst>
    </p:cSldViewPr>
  </p:slideViewPr>
  <p:outlineViewPr>
    <p:cViewPr>
      <p:scale>
        <a:sx n="33" d="100"/>
        <a:sy n="33" d="100"/>
      </p:scale>
      <p:origin x="0" y="-2936"/>
    </p:cViewPr>
  </p:outlineViewPr>
  <p:notesTextViewPr>
    <p:cViewPr>
      <p:scale>
        <a:sx n="100" d="100"/>
        <a:sy n="100" d="100"/>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C0688553-D7DC-44EC-AF1E-28318E45FFEE}" type="datetimeFigureOut">
              <a:rPr lang="de-DE" smtClean="0"/>
              <a:t>02.09.2025</a:t>
            </a:fld>
            <a:endParaRPr lang="de-DE"/>
          </a:p>
        </p:txBody>
      </p:sp>
      <p:sp>
        <p:nvSpPr>
          <p:cNvPr id="4" name="Folienbildplatzhalt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90A2676F-06EA-40E1-8597-F300C54F9869}" type="slidenum">
              <a:rPr lang="de-DE" smtClean="0"/>
              <a:t>‹#›</a:t>
            </a:fld>
            <a:endParaRPr lang="de-DE"/>
          </a:p>
        </p:txBody>
      </p:sp>
    </p:spTree>
    <p:extLst>
      <p:ext uri="{BB962C8B-B14F-4D97-AF65-F5344CB8AC3E}">
        <p14:creationId xmlns:p14="http://schemas.microsoft.com/office/powerpoint/2010/main" val="117679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Good morning, everyone. It is my pleasure to present the work I have conducted over the past six months, focusing on </a:t>
            </a:r>
            <a:r>
              <a:rPr lang="en-US" altLang="zh-CN" sz="1200" b="1" dirty="0"/>
              <a:t>Using DORIS for extracting ionospheric information at satellite altimetry observation points</a:t>
            </a:r>
            <a:endParaRPr lang="zh-CN" altLang="en-US" dirty="0"/>
          </a:p>
        </p:txBody>
      </p:sp>
      <p:sp>
        <p:nvSpPr>
          <p:cNvPr id="4" name="灯片编号占位符 3"/>
          <p:cNvSpPr>
            <a:spLocks noGrp="1"/>
          </p:cNvSpPr>
          <p:nvPr>
            <p:ph type="sldNum" sz="quarter" idx="5"/>
          </p:nvPr>
        </p:nvSpPr>
        <p:spPr/>
        <p:txBody>
          <a:bodyPr/>
          <a:lstStyle/>
          <a:p>
            <a:fld id="{90A2676F-06EA-40E1-8597-F300C54F9869}" type="slidenum">
              <a:rPr lang="de-DE" smtClean="0"/>
              <a:t>1</a:t>
            </a:fld>
            <a:endParaRPr lang="de-DE"/>
          </a:p>
        </p:txBody>
      </p:sp>
    </p:spTree>
    <p:extLst>
      <p:ext uri="{BB962C8B-B14F-4D97-AF65-F5344CB8AC3E}">
        <p14:creationId xmlns:p14="http://schemas.microsoft.com/office/powerpoint/2010/main" val="1801930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Satellite altimetry requires high accuracy in its observations. As shown here, the global mean sea level has varied over the past three decades, with changes measured at the millimeter scale. Among the major error sources affecting altimeter signals, ionospheric delay is important, as its impact can reach up to the meter level.</a:t>
            </a:r>
          </a:p>
          <a:p>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For single-frequency altimeters, ionospheric corrections are usually derived from GNSS-based global ionospheric maps, or GIMs. However, GNSS receivers are unevenly distributed and relatively sparse over the oceans compared to land. By contrast, all altimetry satellites are equipped with DORIS receivers for precise orbit determination. Since the DORIS network provides wide coverage across oceanic regions, it also offers the potential to improve ionospheric delay corrections for altimetry measurements.</a:t>
            </a:r>
          </a:p>
          <a:p>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Therefore, this study investigates the use of DORIS observations to correct ionospheric delay in single-frequency altimetry. The results are compared with those derived from GIM, while Jason-3 dual-frequency altimetry data serve as the ground truth for validation.</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90A2676F-06EA-40E1-8597-F300C54F9869}" type="slidenum">
              <a:rPr lang="de-DE" smtClean="0"/>
              <a:t>2</a:t>
            </a:fld>
            <a:endParaRPr lang="de-DE"/>
          </a:p>
        </p:txBody>
      </p:sp>
    </p:spTree>
    <p:extLst>
      <p:ext uri="{BB962C8B-B14F-4D97-AF65-F5344CB8AC3E}">
        <p14:creationId xmlns:p14="http://schemas.microsoft.com/office/powerpoint/2010/main" val="5038398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DORIS, which stands for Doppler </a:t>
            </a:r>
            <a:r>
              <a:rPr lang="en-US" altLang="zh-CN" sz="1200" kern="1200" dirty="0" err="1">
                <a:solidFill>
                  <a:schemeClr val="tx1"/>
                </a:solidFill>
                <a:effectLst/>
                <a:latin typeface="+mn-lt"/>
                <a:ea typeface="+mn-ea"/>
                <a:cs typeface="+mn-cs"/>
              </a:rPr>
              <a:t>Orbitography</a:t>
            </a:r>
            <a:r>
              <a:rPr lang="en-US" altLang="zh-CN" sz="1200" kern="1200" dirty="0">
                <a:solidFill>
                  <a:schemeClr val="tx1"/>
                </a:solidFill>
                <a:effectLst/>
                <a:latin typeface="+mn-lt"/>
                <a:ea typeface="+mn-ea"/>
                <a:cs typeface="+mn-cs"/>
              </a:rPr>
              <a:t> and </a:t>
            </a:r>
            <a:r>
              <a:rPr lang="en-US" altLang="zh-CN" sz="1200" kern="1200" dirty="0" err="1">
                <a:solidFill>
                  <a:schemeClr val="tx1"/>
                </a:solidFill>
                <a:effectLst/>
                <a:latin typeface="+mn-lt"/>
                <a:ea typeface="+mn-ea"/>
                <a:cs typeface="+mn-cs"/>
              </a:rPr>
              <a:t>Radiopositioning</a:t>
            </a:r>
            <a:r>
              <a:rPr lang="en-US" altLang="zh-CN" sz="1200" kern="1200" dirty="0">
                <a:solidFill>
                  <a:schemeClr val="tx1"/>
                </a:solidFill>
                <a:effectLst/>
                <a:latin typeface="+mn-lt"/>
                <a:ea typeface="+mn-ea"/>
                <a:cs typeface="+mn-cs"/>
              </a:rPr>
              <a:t> Integrated by Satellite, was originally developed for the precise orbit determination of altimeter satellites. Unlike GNSS, the signals are transmitted from a global network of ground beacons to the satellite, and then relayed to the control center. Many of these beacons are located in remote regions, enabling global coverage without relying on internet infrastructure. Each receiver onboard altimetry missions records two frequencies, 2 GHz and 400 MHz, which allow ionospheric delay correction. Importantly, the data are provided in RINEX format, similar to GNSS, which makes the integration and processing straightforward.</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90A2676F-06EA-40E1-8597-F300C54F9869}" type="slidenum">
              <a:rPr lang="de-DE" smtClean="0"/>
              <a:t>3</a:t>
            </a:fld>
            <a:endParaRPr lang="de-DE"/>
          </a:p>
        </p:txBody>
      </p:sp>
    </p:spTree>
    <p:extLst>
      <p:ext uri="{BB962C8B-B14F-4D97-AF65-F5344CB8AC3E}">
        <p14:creationId xmlns:p14="http://schemas.microsoft.com/office/powerpoint/2010/main" val="310742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DORIS RINEX files contain both code and phase observations at two frequencies. The code measurements, however, suffer from very large noise—up to the kilometer level—and are therefore unusable for precise range determination. Phase measurements, on the other hand, are sufficiently precise to extract ionospheric information, much like in GNSS processing.</a:t>
            </a:r>
          </a:p>
          <a:p>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A key limitation is that without reliable code data, the absolute ionospheric delay cannot be derived directly from phase alone. To overcome this, GNSS-based GIMs  are used to provide the absolute reference level, after downscaling to the orbit height of altimeter satellites. In this way, DORIS phase observations are converted into slant total electron content, which is then mapped into vertical TEC at the DORIS observation points.</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90A2676F-06EA-40E1-8597-F300C54F9869}" type="slidenum">
              <a:rPr lang="de-DE" smtClean="0"/>
              <a:t>4</a:t>
            </a:fld>
            <a:endParaRPr lang="de-DE"/>
          </a:p>
        </p:txBody>
      </p:sp>
    </p:spTree>
    <p:extLst>
      <p:ext uri="{BB962C8B-B14F-4D97-AF65-F5344CB8AC3E}">
        <p14:creationId xmlns:p14="http://schemas.microsoft.com/office/powerpoint/2010/main" val="2750192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30055-C460-BF00-CDEE-493052DB39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BF4086D-6ED3-A941-997B-81AE17C5850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6ADD7D3-657B-EAE7-6966-30E27957D1EF}"/>
              </a:ext>
            </a:extLst>
          </p:cNvPr>
          <p:cNvSpPr>
            <a:spLocks noGrp="1"/>
          </p:cNvSpPr>
          <p:nvPr>
            <p:ph type="body" idx="1"/>
          </p:nvPr>
        </p:nvSpPr>
        <p:spPr/>
        <p:txBody>
          <a:bodyPr/>
          <a:lstStyle/>
          <a:p>
            <a:pPr marL="0" indent="0" algn="just">
              <a:spcAft>
                <a:spcPts val="0"/>
              </a:spcAft>
              <a:buFont typeface="Arial" panose="020B0604020202020204" pitchFamily="34" charset="0"/>
              <a:buNone/>
            </a:pPr>
            <a:endParaRPr lang="en-GB" sz="1200" dirty="0">
              <a:solidFill>
                <a:schemeClr val="bg1"/>
              </a:solidFill>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B485C98D-F355-8488-ABEE-16EA626F9164}"/>
              </a:ext>
            </a:extLst>
          </p:cNvPr>
          <p:cNvSpPr>
            <a:spLocks noGrp="1"/>
          </p:cNvSpPr>
          <p:nvPr>
            <p:ph type="sldNum" sz="quarter" idx="10"/>
          </p:nvPr>
        </p:nvSpPr>
        <p:spPr/>
        <p:txBody>
          <a:bodyPr/>
          <a:lstStyle/>
          <a:p>
            <a:fld id="{9DB4E6B9-D457-4B0C-A303-568F1F914B04}" type="slidenum">
              <a:rPr lang="zh-CN" altLang="en-US" smtClean="0"/>
              <a:t>5</a:t>
            </a:fld>
            <a:endParaRPr lang="zh-CN" altLang="en-US"/>
          </a:p>
        </p:txBody>
      </p:sp>
    </p:spTree>
    <p:extLst>
      <p:ext uri="{BB962C8B-B14F-4D97-AF65-F5344CB8AC3E}">
        <p14:creationId xmlns:p14="http://schemas.microsoft.com/office/powerpoint/2010/main" val="2882554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D5241-5433-DAD1-A0CA-21B6077E87D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6C5456A-5073-841A-971E-BB6DFD16AEB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6DE990B-03C7-7BD7-49E5-2CC80BEA1DFB}"/>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To obtain DORIS-based VTEC values at the altimeter observation points, two steps are required: point selection and interpolation. First, DORIS VTEC observations within a defined spatial window around each altimeter observation point are selected. Then, these values are interpolated to the observation location using a weighted averaging method. This procedure, as illustrated in the video shown here, was first tested during my Master’s Thesis in 2024 and provides a practical way to link DORIS observations with altimetry measurements.</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447578E1-3266-635D-B455-4912A03EFEAC}"/>
              </a:ext>
            </a:extLst>
          </p:cNvPr>
          <p:cNvSpPr>
            <a:spLocks noGrp="1"/>
          </p:cNvSpPr>
          <p:nvPr>
            <p:ph type="sldNum" sz="quarter" idx="10"/>
          </p:nvPr>
        </p:nvSpPr>
        <p:spPr/>
        <p:txBody>
          <a:bodyPr/>
          <a:lstStyle/>
          <a:p>
            <a:fld id="{9DB4E6B9-D457-4B0C-A303-568F1F914B04}" type="slidenum">
              <a:rPr lang="zh-CN" altLang="en-US" smtClean="0"/>
              <a:t>6</a:t>
            </a:fld>
            <a:endParaRPr lang="zh-CN" altLang="en-US"/>
          </a:p>
        </p:txBody>
      </p:sp>
    </p:spTree>
    <p:extLst>
      <p:ext uri="{BB962C8B-B14F-4D97-AF65-F5344CB8AC3E}">
        <p14:creationId xmlns:p14="http://schemas.microsoft.com/office/powerpoint/2010/main" val="36526378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D5241-5433-DAD1-A0CA-21B6077E87D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6C5456A-5073-841A-971E-BB6DFD16AEB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6DE990B-03C7-7BD7-49E5-2CC80BEA1DFB}"/>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This figure shows the VTEC values derived from DORIS observations during a single day in 2024. As we can see, ionospheric activity is significantly higher in the equatorial regions , highlighted in yellow. Also the different local times of ascending and descending passes can be spotted. Over longer time spans, the altimetry ground tracks gradually cover the globe. </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447578E1-3266-635D-B455-4912A03EFEAC}"/>
              </a:ext>
            </a:extLst>
          </p:cNvPr>
          <p:cNvSpPr>
            <a:spLocks noGrp="1"/>
          </p:cNvSpPr>
          <p:nvPr>
            <p:ph type="sldNum" sz="quarter" idx="10"/>
          </p:nvPr>
        </p:nvSpPr>
        <p:spPr/>
        <p:txBody>
          <a:bodyPr/>
          <a:lstStyle/>
          <a:p>
            <a:fld id="{9DB4E6B9-D457-4B0C-A303-568F1F914B04}" type="slidenum">
              <a:rPr lang="zh-CN" altLang="en-US" smtClean="0"/>
              <a:t>7</a:t>
            </a:fld>
            <a:endParaRPr lang="zh-CN" altLang="en-US"/>
          </a:p>
        </p:txBody>
      </p:sp>
    </p:spTree>
    <p:extLst>
      <p:ext uri="{BB962C8B-B14F-4D97-AF65-F5344CB8AC3E}">
        <p14:creationId xmlns:p14="http://schemas.microsoft.com/office/powerpoint/2010/main" val="25500348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8CA84-0B61-5A25-2B9B-3AD99289C4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424536-92E5-DB77-5839-73E7F3F7E2C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4CD447C-CB9D-9C9C-434F-DCC1E3ECD78A}"/>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After averaging over 90 days , we obtain the DORIS-based VTEC map shown here. It is important to note that there are still missing regions, particularly over the Pacific and other areas with sparse DORIS coverage, where no data are available . Naturally, the coverage will expand as more DORIS stations are deployed worldwide. </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22715046-7276-F400-4355-70C92E0F0BBB}"/>
              </a:ext>
            </a:extLst>
          </p:cNvPr>
          <p:cNvSpPr>
            <a:spLocks noGrp="1"/>
          </p:cNvSpPr>
          <p:nvPr>
            <p:ph type="sldNum" sz="quarter" idx="10"/>
          </p:nvPr>
        </p:nvSpPr>
        <p:spPr/>
        <p:txBody>
          <a:bodyPr/>
          <a:lstStyle/>
          <a:p>
            <a:fld id="{9DB4E6B9-D457-4B0C-A303-568F1F914B04}" type="slidenum">
              <a:rPr lang="zh-CN" altLang="en-US" smtClean="0"/>
              <a:t>8</a:t>
            </a:fld>
            <a:endParaRPr lang="zh-CN" altLang="en-US"/>
          </a:p>
        </p:txBody>
      </p:sp>
    </p:spTree>
    <p:extLst>
      <p:ext uri="{BB962C8B-B14F-4D97-AF65-F5344CB8AC3E}">
        <p14:creationId xmlns:p14="http://schemas.microsoft.com/office/powerpoint/2010/main" val="1239768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3786C-E11C-7CAE-7D48-9AD46658506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E95126A-3201-A8C9-7314-CF83A59FEBC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4E0B459-6B18-29A1-4121-8F155A24A161}"/>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For instance, this figure shows the situation in 2020, where the blank regions were even larger. The improvement in coverage in recent years is due to the addition of new stations, shown here in red, which were established after 2020.</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0FAD8E65-5402-D77E-C2BB-435793AF6BCC}"/>
              </a:ext>
            </a:extLst>
          </p:cNvPr>
          <p:cNvSpPr>
            <a:spLocks noGrp="1"/>
          </p:cNvSpPr>
          <p:nvPr>
            <p:ph type="sldNum" sz="quarter" idx="10"/>
          </p:nvPr>
        </p:nvSpPr>
        <p:spPr/>
        <p:txBody>
          <a:bodyPr/>
          <a:lstStyle/>
          <a:p>
            <a:fld id="{9DB4E6B9-D457-4B0C-A303-568F1F914B04}" type="slidenum">
              <a:rPr lang="zh-CN" altLang="en-US" smtClean="0"/>
              <a:t>9</a:t>
            </a:fld>
            <a:endParaRPr lang="zh-CN" altLang="en-US"/>
          </a:p>
        </p:txBody>
      </p:sp>
    </p:spTree>
    <p:extLst>
      <p:ext uri="{BB962C8B-B14F-4D97-AF65-F5344CB8AC3E}">
        <p14:creationId xmlns:p14="http://schemas.microsoft.com/office/powerpoint/2010/main" val="34336389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7F1F9-666B-E6E6-A243-6FDC2F6523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B508136-818A-5516-5939-EAE8A005155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C26055D-0A65-AF0B-EDC5-D21ACC48D9EF}"/>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This figure shows the RMS values obtained by comparing DORIS-based and GIM-based altimetry VTEC against Jason-3 dual-frequency measurements, which serve as the ground truth. For DORIS, the highest RMS values are clearly concentrated near the blank regions, especially along the equatorial belt where ionospheric activity is strongest. At high latitudes above 30°, DORIS shows relatively good performance, especially in regions close to its stations.</a:t>
            </a:r>
          </a:p>
          <a:p>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In addition, several clusters of elevated RMS can be seen in other regions. These are also linked to large distances from the nearest DORIS stations</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By contrast, GIM  exhibits complete global coverage and a more uniform RMS distribution. Nevertheless, DORIS is not without strengths. In high-latitude regions above 30 degrees, as well as over the Indian Ocean near the African continent where near stations are sufficient, DORIS corrections actually perform better than GIM.</a:t>
            </a:r>
          </a:p>
          <a:p>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This suggests that the performance of DORIS is strongly related to the distribution of stations , in addition to the absolute VTEC. </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235C350D-B615-7A92-DDBC-1D80D8F0BE6F}"/>
              </a:ext>
            </a:extLst>
          </p:cNvPr>
          <p:cNvSpPr>
            <a:spLocks noGrp="1"/>
          </p:cNvSpPr>
          <p:nvPr>
            <p:ph type="sldNum" sz="quarter" idx="10"/>
          </p:nvPr>
        </p:nvSpPr>
        <p:spPr/>
        <p:txBody>
          <a:bodyPr/>
          <a:lstStyle/>
          <a:p>
            <a:fld id="{9DB4E6B9-D457-4B0C-A303-568F1F914B04}" type="slidenum">
              <a:rPr lang="zh-CN" altLang="en-US" smtClean="0"/>
              <a:t>10</a:t>
            </a:fld>
            <a:endParaRPr lang="zh-CN" altLang="en-US"/>
          </a:p>
        </p:txBody>
      </p:sp>
    </p:spTree>
    <p:extLst>
      <p:ext uri="{BB962C8B-B14F-4D97-AF65-F5344CB8AC3E}">
        <p14:creationId xmlns:p14="http://schemas.microsoft.com/office/powerpoint/2010/main" val="27368077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22251-87A7-54B2-CC1D-C4BBD76D2FC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81EE158-BB29-46E3-C4B2-E40BD90F06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7EE3C0C-F6DE-5522-1C63-5E56566B95ED}"/>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This figure shows the RMS values obtained by comparing DORIS-based and GIM-based altimetry VTEC against Jason-3 dual-frequency measurements, which serve as the ground truth. For DORIS, the highest RMS values are clearly concentrated near the blank regions, especially along the equatorial belt where ionospheric activity is strongest. At high latitudes above 30°, DORIS shows relatively good performance, especially in regions close to its stations.</a:t>
            </a:r>
          </a:p>
          <a:p>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In addition, several clusters of elevated RMS can be seen in other regions. These are also linked to large distances from the nearest DORIS stations</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By contrast, GIM  exhibits complete global coverage and a more uniform RMS distribution. Nevertheless, DORIS is not without strengths. In high-latitude regions above 30 degrees, as well as over the Indian Ocean near the African continent where near stations are sufficient, DORIS corrections actually perform better than GIM.</a:t>
            </a:r>
          </a:p>
          <a:p>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This suggests that the performance of DORIS is strongly related to the distribution of stations , in addition to the absolute VTEC. </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E10C753E-A58A-366C-D1B6-9B5A05A2DFA4}"/>
              </a:ext>
            </a:extLst>
          </p:cNvPr>
          <p:cNvSpPr>
            <a:spLocks noGrp="1"/>
          </p:cNvSpPr>
          <p:nvPr>
            <p:ph type="sldNum" sz="quarter" idx="10"/>
          </p:nvPr>
        </p:nvSpPr>
        <p:spPr/>
        <p:txBody>
          <a:bodyPr/>
          <a:lstStyle/>
          <a:p>
            <a:fld id="{9DB4E6B9-D457-4B0C-A303-568F1F914B04}" type="slidenum">
              <a:rPr lang="zh-CN" altLang="en-US" smtClean="0"/>
              <a:t>11</a:t>
            </a:fld>
            <a:endParaRPr lang="zh-CN" altLang="en-US"/>
          </a:p>
        </p:txBody>
      </p:sp>
    </p:spTree>
    <p:extLst>
      <p:ext uri="{BB962C8B-B14F-4D97-AF65-F5344CB8AC3E}">
        <p14:creationId xmlns:p14="http://schemas.microsoft.com/office/powerpoint/2010/main" val="4093987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D5241-5433-DAD1-A0CA-21B6077E87D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6C5456A-5073-841A-971E-BB6DFD16AEB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6DE990B-03C7-7BD7-49E5-2CC80BEA1DFB}"/>
              </a:ext>
            </a:extLst>
          </p:cNvPr>
          <p:cNvSpPr>
            <a:spLocks noGrp="1"/>
          </p:cNvSpPr>
          <p:nvPr>
            <p:ph type="body" idx="1"/>
          </p:nvPr>
        </p:nvSpPr>
        <p:spPr/>
        <p:txBody>
          <a:bodyPr/>
          <a:lstStyle/>
          <a:p>
            <a:r>
              <a:rPr lang="en-US" altLang="zh-CN" dirty="0"/>
              <a:t>After looking at the geographical distribution of RMS values, I will now move on to the temporal perspective, showing the comparison of RMS between DORIS and GIM over long time span.</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validation period spans six years, from 2019 to 2024, covering very different levels of solar activity. This figure shows the F10.7 solar flux. We can clearly see the transition from quiet conditions in 2019 to highly active conditions in 2024. In particular, May 2024 included a strong ionospheric storm, which is also part of the dataset used in this study.</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447578E1-3266-635D-B455-4912A03EFEAC}"/>
              </a:ext>
            </a:extLst>
          </p:cNvPr>
          <p:cNvSpPr>
            <a:spLocks noGrp="1"/>
          </p:cNvSpPr>
          <p:nvPr>
            <p:ph type="sldNum" sz="quarter" idx="10"/>
          </p:nvPr>
        </p:nvSpPr>
        <p:spPr/>
        <p:txBody>
          <a:bodyPr/>
          <a:lstStyle/>
          <a:p>
            <a:fld id="{9DB4E6B9-D457-4B0C-A303-568F1F914B04}" type="slidenum">
              <a:rPr lang="zh-CN" altLang="en-US" smtClean="0"/>
              <a:t>12</a:t>
            </a:fld>
            <a:endParaRPr lang="zh-CN" altLang="en-US"/>
          </a:p>
        </p:txBody>
      </p:sp>
    </p:spTree>
    <p:extLst>
      <p:ext uri="{BB962C8B-B14F-4D97-AF65-F5344CB8AC3E}">
        <p14:creationId xmlns:p14="http://schemas.microsoft.com/office/powerpoint/2010/main" val="41228020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863EB-4617-8909-C35F-C465230E8DE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24A09A-7E5F-9834-A723-B6C05569D87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803C9B6-64FC-2DC6-E314-EDECE79EEA24}"/>
              </a:ext>
            </a:extLst>
          </p:cNvPr>
          <p:cNvSpPr>
            <a:spLocks noGrp="1"/>
          </p:cNvSpPr>
          <p:nvPr>
            <p:ph type="body" idx="1"/>
          </p:nvPr>
        </p:nvSpPr>
        <p:spPr/>
        <p:txBody>
          <a:bodyPr/>
          <a:lstStyle/>
          <a:p>
            <a:r>
              <a:rPr lang="en-US" altLang="zh-CN" dirty="0" err="1"/>
              <a:t>Kpindex</a:t>
            </a:r>
            <a:r>
              <a:rPr lang="en-US" altLang="zh-CN" dirty="0"/>
              <a:t>: planetary K index: geomagnetic activity index </a:t>
            </a:r>
            <a:r>
              <a:rPr lang="en-US" altLang="zh-CN" b="1" dirty="0" err="1"/>
              <a:t>Kp</a:t>
            </a:r>
            <a:r>
              <a:rPr lang="en-US" altLang="zh-CN" b="1" dirty="0"/>
              <a:t> ≥ 8</a:t>
            </a:r>
            <a:r>
              <a:rPr lang="en-US" altLang="zh-CN" dirty="0"/>
              <a:t>: severe to extreme ionospheric storm event</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F74D7987-4304-16AF-7E0E-B3C58E3EBB2D}"/>
              </a:ext>
            </a:extLst>
          </p:cNvPr>
          <p:cNvSpPr>
            <a:spLocks noGrp="1"/>
          </p:cNvSpPr>
          <p:nvPr>
            <p:ph type="sldNum" sz="quarter" idx="10"/>
          </p:nvPr>
        </p:nvSpPr>
        <p:spPr/>
        <p:txBody>
          <a:bodyPr/>
          <a:lstStyle/>
          <a:p>
            <a:fld id="{9DB4E6B9-D457-4B0C-A303-568F1F914B04}" type="slidenum">
              <a:rPr lang="zh-CN" altLang="en-US" smtClean="0"/>
              <a:t>13</a:t>
            </a:fld>
            <a:endParaRPr lang="zh-CN" altLang="en-US"/>
          </a:p>
        </p:txBody>
      </p:sp>
    </p:spTree>
    <p:extLst>
      <p:ext uri="{BB962C8B-B14F-4D97-AF65-F5344CB8AC3E}">
        <p14:creationId xmlns:p14="http://schemas.microsoft.com/office/powerpoint/2010/main" val="27505108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B6998-C2C0-0A42-792D-70572D1AADF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1BC7F5-A7F3-80C3-A4E7-36648F7426E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63CF63D-DCC2-23AE-0FD3-8DCC87CA0121}"/>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If we focus only on altimeter observation points located within 1800 kilometers of DORIS stations, and compare the RMS values of DORIS-based and GIM-based corrections on a daily basis, we obtain the time series shown here. The results indicate that in 2020, during relatively quiet ionospheric conditions, DORIS corrections consistently outperformed GIM. However, in 2024, under much more active ionospheric conditions, the performance of the two became comparable. This demonstrates that the relative performance of DORIS is closely linked to the level of ionospheric activity. </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A9D0DCCA-4CC7-C452-12AD-592F83E14907}"/>
              </a:ext>
            </a:extLst>
          </p:cNvPr>
          <p:cNvSpPr>
            <a:spLocks noGrp="1"/>
          </p:cNvSpPr>
          <p:nvPr>
            <p:ph type="sldNum" sz="quarter" idx="10"/>
          </p:nvPr>
        </p:nvSpPr>
        <p:spPr/>
        <p:txBody>
          <a:bodyPr/>
          <a:lstStyle/>
          <a:p>
            <a:fld id="{9DB4E6B9-D457-4B0C-A303-568F1F914B04}" type="slidenum">
              <a:rPr lang="zh-CN" altLang="en-US" smtClean="0"/>
              <a:t>14</a:t>
            </a:fld>
            <a:endParaRPr lang="zh-CN" altLang="en-US"/>
          </a:p>
        </p:txBody>
      </p:sp>
    </p:spTree>
    <p:extLst>
      <p:ext uri="{BB962C8B-B14F-4D97-AF65-F5344CB8AC3E}">
        <p14:creationId xmlns:p14="http://schemas.microsoft.com/office/powerpoint/2010/main" val="2529276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8F8F5-0E19-F715-52C2-C68F61E1E6A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9756E0-C65A-527A-1FB6-435CB114994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AC9B26F-4AEE-03C7-18D3-5C5423D5A307}"/>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Looking at the six-year trend, we can also observe how the initial advantage of DORIS gradually diminishes, with GIM corrections “catching up” over time . I should also note that these are global averaged results each day, and the performance in single regions/local times can differ</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2401B283-B5B0-3471-F850-6FFE38CA130F}"/>
              </a:ext>
            </a:extLst>
          </p:cNvPr>
          <p:cNvSpPr>
            <a:spLocks noGrp="1"/>
          </p:cNvSpPr>
          <p:nvPr>
            <p:ph type="sldNum" sz="quarter" idx="10"/>
          </p:nvPr>
        </p:nvSpPr>
        <p:spPr/>
        <p:txBody>
          <a:bodyPr/>
          <a:lstStyle/>
          <a:p>
            <a:fld id="{9DB4E6B9-D457-4B0C-A303-568F1F914B04}" type="slidenum">
              <a:rPr lang="zh-CN" altLang="en-US" smtClean="0"/>
              <a:t>15</a:t>
            </a:fld>
            <a:endParaRPr lang="zh-CN" altLang="en-US"/>
          </a:p>
        </p:txBody>
      </p:sp>
    </p:spTree>
    <p:extLst>
      <p:ext uri="{BB962C8B-B14F-4D97-AF65-F5344CB8AC3E}">
        <p14:creationId xmlns:p14="http://schemas.microsoft.com/office/powerpoint/2010/main" val="42691735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FC069-E288-C0C2-CFA0-BEB9F3BB1E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3684C70-F0A3-C21B-588E-34F57C920A3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DC010D8-A27A-9A00-37DB-989574BDC07D}"/>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If we extend the analysis to nearly the full altimeter observation coverage—about 95% globally—the performance of DORIS cannot compete with that of GIM. This is strongly related to the distribution and the limited number of DORIS stations. The performance gap is especially large during the highly active ionospheric conditions in 2024.</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621C1C0E-E7EF-C2A5-510A-DEE3D09A1BB7}"/>
              </a:ext>
            </a:extLst>
          </p:cNvPr>
          <p:cNvSpPr>
            <a:spLocks noGrp="1"/>
          </p:cNvSpPr>
          <p:nvPr>
            <p:ph type="sldNum" sz="quarter" idx="10"/>
          </p:nvPr>
        </p:nvSpPr>
        <p:spPr/>
        <p:txBody>
          <a:bodyPr/>
          <a:lstStyle/>
          <a:p>
            <a:fld id="{9DB4E6B9-D457-4B0C-A303-568F1F914B04}" type="slidenum">
              <a:rPr lang="zh-CN" altLang="en-US" smtClean="0"/>
              <a:t>16</a:t>
            </a:fld>
            <a:endParaRPr lang="zh-CN" altLang="en-US"/>
          </a:p>
        </p:txBody>
      </p:sp>
    </p:spTree>
    <p:extLst>
      <p:ext uri="{BB962C8B-B14F-4D97-AF65-F5344CB8AC3E}">
        <p14:creationId xmlns:p14="http://schemas.microsoft.com/office/powerpoint/2010/main" val="12684801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04DFF-ED1F-D7B4-1BBB-4778CFBF4B5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F7F492E-C435-A87C-61DF-DD5F4F40A49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809493E-7B58-84F8-360B-4188FE204802}"/>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The results of this study show that DORIS is able to provide reliable ionospheric corrections for satellite altimetry. The correction quality, however, strongly depends on both the level of ionospheric activity and the spatial distribution of DORIS stations. In regions where the network coverage is sufficient—particularly over the oceans—DORIS can even outperform GIM and deliver corrections of higher accuracy. </a:t>
            </a:r>
          </a:p>
          <a:p>
            <a:br>
              <a:rPr lang="en-US" altLang="zh-CN" sz="1200" kern="1200" dirty="0">
                <a:solidFill>
                  <a:schemeClr val="tx1"/>
                </a:solidFill>
                <a:effectLst/>
                <a:latin typeface="+mn-lt"/>
                <a:ea typeface="+mn-ea"/>
                <a:cs typeface="+mn-cs"/>
              </a:rPr>
            </a:br>
            <a:r>
              <a:rPr lang="en-US" altLang="zh-CN" sz="1200" kern="1200" dirty="0">
                <a:solidFill>
                  <a:schemeClr val="tx1"/>
                </a:solidFill>
                <a:effectLst/>
                <a:latin typeface="+mn-lt"/>
                <a:ea typeface="+mn-ea"/>
                <a:cs typeface="+mn-cs"/>
              </a:rPr>
              <a:t>In conclusion, while DORIS can play an important role in ionospheric correction for altimetry, its use as a stand-alone solution is not recommended. The best performance can be expected when DORIS is combined with GNSS or GIM data, thereby taking advantage of the complementary strengths of each system. Future work will focus on developing such integrated approaches in order to improve both the global coverage and the robustness of ionospheric corrections for satellite altimetry.</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E1E84F3C-80E0-A0F5-49FB-3965DEB02814}"/>
              </a:ext>
            </a:extLst>
          </p:cNvPr>
          <p:cNvSpPr>
            <a:spLocks noGrp="1"/>
          </p:cNvSpPr>
          <p:nvPr>
            <p:ph type="sldNum" sz="quarter" idx="10"/>
          </p:nvPr>
        </p:nvSpPr>
        <p:spPr/>
        <p:txBody>
          <a:bodyPr/>
          <a:lstStyle/>
          <a:p>
            <a:fld id="{9DB4E6B9-D457-4B0C-A303-568F1F914B04}" type="slidenum">
              <a:rPr lang="zh-CN" altLang="en-US" smtClean="0"/>
              <a:t>17</a:t>
            </a:fld>
            <a:endParaRPr lang="zh-CN" altLang="en-US"/>
          </a:p>
        </p:txBody>
      </p:sp>
    </p:spTree>
    <p:extLst>
      <p:ext uri="{BB962C8B-B14F-4D97-AF65-F5344CB8AC3E}">
        <p14:creationId xmlns:p14="http://schemas.microsoft.com/office/powerpoint/2010/main" val="32970155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5699F-17E6-D113-25C7-2C6CC09023D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2C85746-D446-3DE1-1951-3099341074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AD616B3-6B1B-34DA-1DD3-D35A7383C491}"/>
              </a:ext>
            </a:extLst>
          </p:cNvPr>
          <p:cNvSpPr>
            <a:spLocks noGrp="1"/>
          </p:cNvSpPr>
          <p:nvPr>
            <p:ph type="body" idx="1"/>
          </p:nvPr>
        </p:nvSpPr>
        <p:spPr/>
        <p:txBody>
          <a:bodyPr/>
          <a:lstStyle/>
          <a:p>
            <a:pPr marL="0" indent="0" algn="just">
              <a:spcAft>
                <a:spcPts val="0"/>
              </a:spcAft>
              <a:buFont typeface="Arial" panose="020B0604020202020204" pitchFamily="34" charset="0"/>
              <a:buNone/>
            </a:pPr>
            <a:endParaRPr lang="en-GB" sz="1200" dirty="0">
              <a:solidFill>
                <a:schemeClr val="bg1"/>
              </a:solidFill>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54DB1670-6DD4-8B73-3073-D2E8BA16AEF1}"/>
              </a:ext>
            </a:extLst>
          </p:cNvPr>
          <p:cNvSpPr>
            <a:spLocks noGrp="1"/>
          </p:cNvSpPr>
          <p:nvPr>
            <p:ph type="sldNum" sz="quarter" idx="10"/>
          </p:nvPr>
        </p:nvSpPr>
        <p:spPr/>
        <p:txBody>
          <a:bodyPr/>
          <a:lstStyle/>
          <a:p>
            <a:fld id="{9DB4E6B9-D457-4B0C-A303-568F1F914B04}" type="slidenum">
              <a:rPr lang="zh-CN" altLang="en-US" smtClean="0"/>
              <a:t>19</a:t>
            </a:fld>
            <a:endParaRPr lang="zh-CN" altLang="en-US"/>
          </a:p>
        </p:txBody>
      </p:sp>
    </p:spTree>
    <p:extLst>
      <p:ext uri="{BB962C8B-B14F-4D97-AF65-F5344CB8AC3E}">
        <p14:creationId xmlns:p14="http://schemas.microsoft.com/office/powerpoint/2010/main" val="40360824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5699F-17E6-D113-25C7-2C6CC09023D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2C85746-D446-3DE1-1951-3099341074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AD616B3-6B1B-34DA-1DD3-D35A7383C491}"/>
              </a:ext>
            </a:extLst>
          </p:cNvPr>
          <p:cNvSpPr>
            <a:spLocks noGrp="1"/>
          </p:cNvSpPr>
          <p:nvPr>
            <p:ph type="body" idx="1"/>
          </p:nvPr>
        </p:nvSpPr>
        <p:spPr/>
        <p:txBody>
          <a:bodyPr/>
          <a:lstStyle/>
          <a:p>
            <a:pPr marL="0" indent="0" algn="just">
              <a:spcAft>
                <a:spcPts val="0"/>
              </a:spcAft>
              <a:buFont typeface="Arial" panose="020B0604020202020204" pitchFamily="34" charset="0"/>
              <a:buNone/>
            </a:pPr>
            <a:endParaRPr lang="en-GB" sz="1200" dirty="0">
              <a:solidFill>
                <a:schemeClr val="bg1"/>
              </a:solidFill>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54DB1670-6DD4-8B73-3073-D2E8BA16AEF1}"/>
              </a:ext>
            </a:extLst>
          </p:cNvPr>
          <p:cNvSpPr>
            <a:spLocks noGrp="1"/>
          </p:cNvSpPr>
          <p:nvPr>
            <p:ph type="sldNum" sz="quarter" idx="10"/>
          </p:nvPr>
        </p:nvSpPr>
        <p:spPr/>
        <p:txBody>
          <a:bodyPr/>
          <a:lstStyle/>
          <a:p>
            <a:fld id="{9DB4E6B9-D457-4B0C-A303-568F1F914B04}" type="slidenum">
              <a:rPr lang="zh-CN" altLang="en-US" smtClean="0"/>
              <a:t>20</a:t>
            </a:fld>
            <a:endParaRPr lang="zh-CN" altLang="en-US"/>
          </a:p>
        </p:txBody>
      </p:sp>
    </p:spTree>
    <p:extLst>
      <p:ext uri="{BB962C8B-B14F-4D97-AF65-F5344CB8AC3E}">
        <p14:creationId xmlns:p14="http://schemas.microsoft.com/office/powerpoint/2010/main" val="18429399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0A2676F-06EA-40E1-8597-F300C54F9869}" type="slidenum">
              <a:rPr lang="de-DE" smtClean="0"/>
              <a:t>21</a:t>
            </a:fld>
            <a:endParaRPr lang="de-DE"/>
          </a:p>
        </p:txBody>
      </p:sp>
    </p:spTree>
    <p:extLst>
      <p:ext uri="{BB962C8B-B14F-4D97-AF65-F5344CB8AC3E}">
        <p14:creationId xmlns:p14="http://schemas.microsoft.com/office/powerpoint/2010/main" val="15917885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32BAE-F1D2-9720-27B9-CEBB58559F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55DCAC-3050-58D9-D4F1-11658330F13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7176588-1E1D-C17D-1F4C-6F57B6935D98}"/>
              </a:ext>
            </a:extLst>
          </p:cNvPr>
          <p:cNvSpPr>
            <a:spLocks noGrp="1"/>
          </p:cNvSpPr>
          <p:nvPr>
            <p:ph type="body" idx="1"/>
          </p:nvPr>
        </p:nvSpPr>
        <p:spPr/>
        <p:txBody>
          <a:bodyPr/>
          <a:lstStyle/>
          <a:p>
            <a:pPr marL="0" indent="0" algn="just">
              <a:spcAft>
                <a:spcPts val="0"/>
              </a:spcAft>
              <a:buFont typeface="Arial" panose="020B0604020202020204" pitchFamily="34" charset="0"/>
              <a:buNone/>
            </a:pPr>
            <a:endParaRPr lang="en-GB" sz="1200" dirty="0">
              <a:solidFill>
                <a:schemeClr val="bg1"/>
              </a:solidFill>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95745512-D7BC-1556-A0D0-0D572953837B}"/>
              </a:ext>
            </a:extLst>
          </p:cNvPr>
          <p:cNvSpPr>
            <a:spLocks noGrp="1"/>
          </p:cNvSpPr>
          <p:nvPr>
            <p:ph type="sldNum" sz="quarter" idx="10"/>
          </p:nvPr>
        </p:nvSpPr>
        <p:spPr/>
        <p:txBody>
          <a:bodyPr/>
          <a:lstStyle/>
          <a:p>
            <a:fld id="{9DB4E6B9-D457-4B0C-A303-568F1F914B04}" type="slidenum">
              <a:rPr lang="zh-CN" altLang="en-US" smtClean="0"/>
              <a:t>22</a:t>
            </a:fld>
            <a:endParaRPr lang="zh-CN" altLang="en-US"/>
          </a:p>
        </p:txBody>
      </p:sp>
    </p:spTree>
    <p:extLst>
      <p:ext uri="{BB962C8B-B14F-4D97-AF65-F5344CB8AC3E}">
        <p14:creationId xmlns:p14="http://schemas.microsoft.com/office/powerpoint/2010/main" val="33765331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CE1F4-1F8D-31BD-4D70-A2151ADA1E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9613F5B-9A38-DBFE-B937-2488E0FAF0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08D4E92-12AF-DA1D-6C21-F94CC542FFBF}"/>
              </a:ext>
            </a:extLst>
          </p:cNvPr>
          <p:cNvSpPr>
            <a:spLocks noGrp="1"/>
          </p:cNvSpPr>
          <p:nvPr>
            <p:ph type="body" idx="1"/>
          </p:nvPr>
        </p:nvSpPr>
        <p:spPr/>
        <p:txBody>
          <a:bodyPr/>
          <a:lstStyle/>
          <a:p>
            <a:pPr marL="0" indent="0" algn="just">
              <a:spcAft>
                <a:spcPts val="0"/>
              </a:spcAft>
              <a:buFont typeface="Arial" panose="020B0604020202020204" pitchFamily="34" charset="0"/>
              <a:buNone/>
            </a:pPr>
            <a:r>
              <a:rPr lang="en-GB" sz="1200" dirty="0">
                <a:solidFill>
                  <a:schemeClr val="bg1"/>
                </a:solidFill>
                <a:ea typeface="等线" panose="02010600030101010101" pitchFamily="2" charset="-122"/>
                <a:cs typeface="Times New Roman" panose="02020603050405020304" pitchFamily="18" charset="0"/>
              </a:rPr>
              <a:t>Residuals are calculated by compensation for phase observations with geometric correction, satellite clock correction and estimation of station clock correction.</a:t>
            </a:r>
          </a:p>
          <a:p>
            <a:pPr marL="0" indent="0" algn="just">
              <a:spcAft>
                <a:spcPts val="0"/>
              </a:spcAft>
              <a:buFont typeface="Arial" panose="020B0604020202020204" pitchFamily="34" charset="0"/>
              <a:buNone/>
            </a:pPr>
            <a:r>
              <a:rPr lang="en-GB" sz="1200" dirty="0">
                <a:solidFill>
                  <a:schemeClr val="bg1"/>
                </a:solidFill>
                <a:ea typeface="等线" panose="02010600030101010101" pitchFamily="2" charset="-122"/>
                <a:cs typeface="Times New Roman" panose="02020603050405020304" pitchFamily="18" charset="0"/>
              </a:rPr>
              <a:t>Nothing below 10 degree as they are too noisy with more than one cycle residuals which makes cycle slip detection impossible;</a:t>
            </a:r>
          </a:p>
          <a:p>
            <a:pPr marL="0" indent="0" algn="just">
              <a:spcAft>
                <a:spcPts val="0"/>
              </a:spcAft>
              <a:buFont typeface="Arial" panose="020B0604020202020204" pitchFamily="34" charset="0"/>
              <a:buNone/>
            </a:pPr>
            <a:r>
              <a:rPr lang="en-GB" sz="1200" dirty="0">
                <a:solidFill>
                  <a:schemeClr val="bg1"/>
                </a:solidFill>
                <a:ea typeface="等线" panose="02010600030101010101" pitchFamily="2" charset="-122"/>
                <a:cs typeface="Times New Roman" panose="02020603050405020304" pitchFamily="18" charset="0"/>
              </a:rPr>
              <a:t>No cycle slip points in this particular figure. </a:t>
            </a:r>
          </a:p>
        </p:txBody>
      </p:sp>
      <p:sp>
        <p:nvSpPr>
          <p:cNvPr id="4" name="灯片编号占位符 3">
            <a:extLst>
              <a:ext uri="{FF2B5EF4-FFF2-40B4-BE49-F238E27FC236}">
                <a16:creationId xmlns:a16="http://schemas.microsoft.com/office/drawing/2014/main" id="{8324F146-38DA-9F0D-369D-54A7F37686E9}"/>
              </a:ext>
            </a:extLst>
          </p:cNvPr>
          <p:cNvSpPr>
            <a:spLocks noGrp="1"/>
          </p:cNvSpPr>
          <p:nvPr>
            <p:ph type="sldNum" sz="quarter" idx="10"/>
          </p:nvPr>
        </p:nvSpPr>
        <p:spPr/>
        <p:txBody>
          <a:bodyPr/>
          <a:lstStyle/>
          <a:p>
            <a:fld id="{9DB4E6B9-D457-4B0C-A303-568F1F914B04}" type="slidenum">
              <a:rPr lang="zh-CN" altLang="en-US" smtClean="0"/>
              <a:t>23</a:t>
            </a:fld>
            <a:endParaRPr lang="zh-CN" altLang="en-US"/>
          </a:p>
        </p:txBody>
      </p:sp>
    </p:spTree>
    <p:extLst>
      <p:ext uri="{BB962C8B-B14F-4D97-AF65-F5344CB8AC3E}">
        <p14:creationId xmlns:p14="http://schemas.microsoft.com/office/powerpoint/2010/main" val="27197150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B00BB-4CE3-A3F5-4FE6-5799C12A124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240FE3A-0439-F485-697D-68902F15125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EB96C39-53FF-DCAC-AB24-D07DDB2B2662}"/>
              </a:ext>
            </a:extLst>
          </p:cNvPr>
          <p:cNvSpPr>
            <a:spLocks noGrp="1"/>
          </p:cNvSpPr>
          <p:nvPr>
            <p:ph type="body" idx="1"/>
          </p:nvPr>
        </p:nvSpPr>
        <p:spPr/>
        <p:txBody>
          <a:bodyPr/>
          <a:lstStyle/>
          <a:p>
            <a:pPr marL="0" indent="0" algn="just">
              <a:spcAft>
                <a:spcPts val="0"/>
              </a:spcAft>
              <a:buFont typeface="Arial" panose="020B0604020202020204" pitchFamily="34" charset="0"/>
              <a:buNone/>
            </a:pPr>
            <a:r>
              <a:rPr lang="en-GB" sz="1200" dirty="0">
                <a:solidFill>
                  <a:schemeClr val="bg1"/>
                </a:solidFill>
                <a:ea typeface="等线" panose="02010600030101010101" pitchFamily="2" charset="-122"/>
                <a:cs typeface="Times New Roman" panose="02020603050405020304" pitchFamily="18" charset="0"/>
              </a:rPr>
              <a:t>Residuals are calculated by compensation for phase observations with geometric correction, satellite clock correction and estimation of station clock correction.</a:t>
            </a:r>
          </a:p>
          <a:p>
            <a:pPr marL="0" indent="0" algn="just">
              <a:spcAft>
                <a:spcPts val="0"/>
              </a:spcAft>
              <a:buFont typeface="Arial" panose="020B0604020202020204" pitchFamily="34" charset="0"/>
              <a:buNone/>
            </a:pPr>
            <a:r>
              <a:rPr lang="en-GB" sz="1200" dirty="0">
                <a:solidFill>
                  <a:schemeClr val="bg1"/>
                </a:solidFill>
                <a:ea typeface="等线" panose="02010600030101010101" pitchFamily="2" charset="-122"/>
                <a:cs typeface="Times New Roman" panose="02020603050405020304" pitchFamily="18" charset="0"/>
              </a:rPr>
              <a:t>Nothing below 10 degree as they are too noisy with more than one cycle residuals which makes cycle slip detection impossible;</a:t>
            </a:r>
          </a:p>
          <a:p>
            <a:pPr marL="0" indent="0" algn="just">
              <a:spcAft>
                <a:spcPts val="0"/>
              </a:spcAft>
              <a:buFont typeface="Arial" panose="020B0604020202020204" pitchFamily="34" charset="0"/>
              <a:buNone/>
            </a:pPr>
            <a:r>
              <a:rPr lang="en-GB" sz="1200" dirty="0">
                <a:solidFill>
                  <a:schemeClr val="bg1"/>
                </a:solidFill>
                <a:ea typeface="等线" panose="02010600030101010101" pitchFamily="2" charset="-122"/>
                <a:cs typeface="Times New Roman" panose="02020603050405020304" pitchFamily="18" charset="0"/>
              </a:rPr>
              <a:t>No cycle slip points in this particular figure. </a:t>
            </a:r>
          </a:p>
        </p:txBody>
      </p:sp>
      <p:sp>
        <p:nvSpPr>
          <p:cNvPr id="4" name="灯片编号占位符 3">
            <a:extLst>
              <a:ext uri="{FF2B5EF4-FFF2-40B4-BE49-F238E27FC236}">
                <a16:creationId xmlns:a16="http://schemas.microsoft.com/office/drawing/2014/main" id="{06C110D3-9AF9-784F-3A27-6FCCC6B7F182}"/>
              </a:ext>
            </a:extLst>
          </p:cNvPr>
          <p:cNvSpPr>
            <a:spLocks noGrp="1"/>
          </p:cNvSpPr>
          <p:nvPr>
            <p:ph type="sldNum" sz="quarter" idx="10"/>
          </p:nvPr>
        </p:nvSpPr>
        <p:spPr/>
        <p:txBody>
          <a:bodyPr/>
          <a:lstStyle/>
          <a:p>
            <a:fld id="{9DB4E6B9-D457-4B0C-A303-568F1F914B04}" type="slidenum">
              <a:rPr lang="zh-CN" altLang="en-US" smtClean="0"/>
              <a:t>24</a:t>
            </a:fld>
            <a:endParaRPr lang="zh-CN" altLang="en-US"/>
          </a:p>
        </p:txBody>
      </p:sp>
    </p:spTree>
    <p:extLst>
      <p:ext uri="{BB962C8B-B14F-4D97-AF65-F5344CB8AC3E}">
        <p14:creationId xmlns:p14="http://schemas.microsoft.com/office/powerpoint/2010/main" val="15146526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9F040-E0D7-310A-B0D2-9A8CF1DD4F6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BDFE00F-69DD-EA22-9E79-6ACDA8AB904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20A1845-FA81-391D-C25D-B8D46FC37710}"/>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As anticipated from the previous slide, the spatial pattern of RMS is closely linked to station distribution. This figure illustrates the global distribution of DORIS stations by showing, for each altimeter observation point, the mean distance to its two nearest stations. Blank regions indicate even larger distances, where no DORIS corrections are available, and are not plotted here. This explains why we observed higher RMS values in the earlier results : regions with larger distances, shown in yellow, correspond to areas with larger RMS values.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quality of DORIS-based ionospheric corrections is therefore strongly linked to station proximity, or equivalently to the density of available observations. The effect is particularly evident in low-latitude regions, where ionospheric activity is stronger. At higher latitudes, however, the correlation is less consistent—for example, the two sides of the Bering Strait blank region show very different RMS values.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11F7013A-472B-9A8B-BCDA-6072FB45EDC4}"/>
              </a:ext>
            </a:extLst>
          </p:cNvPr>
          <p:cNvSpPr>
            <a:spLocks noGrp="1"/>
          </p:cNvSpPr>
          <p:nvPr>
            <p:ph type="sldNum" sz="quarter" idx="10"/>
          </p:nvPr>
        </p:nvSpPr>
        <p:spPr/>
        <p:txBody>
          <a:bodyPr/>
          <a:lstStyle/>
          <a:p>
            <a:fld id="{9DB4E6B9-D457-4B0C-A303-568F1F914B04}" type="slidenum">
              <a:rPr lang="zh-CN" altLang="en-US" smtClean="0"/>
              <a:t>25</a:t>
            </a:fld>
            <a:endParaRPr lang="zh-CN" altLang="en-US"/>
          </a:p>
        </p:txBody>
      </p:sp>
    </p:spTree>
    <p:extLst>
      <p:ext uri="{BB962C8B-B14F-4D97-AF65-F5344CB8AC3E}">
        <p14:creationId xmlns:p14="http://schemas.microsoft.com/office/powerpoint/2010/main" val="4848263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6B721-CFDB-155C-1B4B-8CFE2475E9B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1DE3AA3-9BC2-8E5E-C450-077228B6F3F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718BEC5-D1D0-9710-10A0-DD597CFB7DED}"/>
              </a:ext>
            </a:extLst>
          </p:cNvPr>
          <p:cNvSpPr>
            <a:spLocks noGrp="1"/>
          </p:cNvSpPr>
          <p:nvPr>
            <p:ph type="body" idx="1"/>
          </p:nvPr>
        </p:nvSpPr>
        <p:spPr/>
        <p:txBody>
          <a:bodyPr/>
          <a:lstStyle/>
          <a:p>
            <a:r>
              <a:rPr lang="en-US" altLang="zh-CN" sz="1200" kern="1200" dirty="0">
                <a:solidFill>
                  <a:schemeClr val="tx1"/>
                </a:solidFill>
                <a:effectLst/>
                <a:latin typeface="+mn-lt"/>
                <a:ea typeface="+mn-ea"/>
                <a:cs typeface="+mn-cs"/>
              </a:rPr>
              <a:t>For instance, this figure shows the situation in 2020, where the blank regions were even larger. The improvement in coverage in recent years is due to the addition of new stations, shown here in red, which were established after 2020.</a:t>
            </a:r>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E8824300-E11C-F830-F5AB-C1711F356F18}"/>
              </a:ext>
            </a:extLst>
          </p:cNvPr>
          <p:cNvSpPr>
            <a:spLocks noGrp="1"/>
          </p:cNvSpPr>
          <p:nvPr>
            <p:ph type="sldNum" sz="quarter" idx="10"/>
          </p:nvPr>
        </p:nvSpPr>
        <p:spPr/>
        <p:txBody>
          <a:bodyPr/>
          <a:lstStyle/>
          <a:p>
            <a:fld id="{9DB4E6B9-D457-4B0C-A303-568F1F914B04}" type="slidenum">
              <a:rPr lang="zh-CN" altLang="en-US" smtClean="0"/>
              <a:t>26</a:t>
            </a:fld>
            <a:endParaRPr lang="zh-CN" altLang="en-US"/>
          </a:p>
        </p:txBody>
      </p:sp>
    </p:spTree>
    <p:extLst>
      <p:ext uri="{BB962C8B-B14F-4D97-AF65-F5344CB8AC3E}">
        <p14:creationId xmlns:p14="http://schemas.microsoft.com/office/powerpoint/2010/main" val="3329900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Start">
    <p:spTree>
      <p:nvGrpSpPr>
        <p:cNvPr id="1" name=""/>
        <p:cNvGrpSpPr/>
        <p:nvPr/>
      </p:nvGrpSpPr>
      <p:grpSpPr bwMode="auto">
        <a:xfrm>
          <a:off x="0" y="0"/>
          <a:ext cx="0" cy="0"/>
          <a:chOff x="0" y="0"/>
          <a:chExt cx="0" cy="0"/>
        </a:xfrm>
      </p:grpSpPr>
      <p:sp>
        <p:nvSpPr>
          <p:cNvPr id="4" name="Inhaltsplatzhalter 2"/>
          <p:cNvSpPr>
            <a:spLocks noGrp="1"/>
          </p:cNvSpPr>
          <p:nvPr>
            <p:ph idx="10" hasCustomPrompt="1"/>
          </p:nvPr>
        </p:nvSpPr>
        <p:spPr bwMode="auto">
          <a:xfrm>
            <a:off x="320400"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marR="0" indent="0" algn="l" defTabSz="914400">
              <a:lnSpc>
                <a:spcPct val="100000"/>
              </a:lnSpc>
              <a:spcBef>
                <a:spcPts val="0"/>
              </a:spcBef>
              <a:spcAft>
                <a:spcPts val="0"/>
              </a:spcAft>
              <a:buClrTx/>
              <a:buSzTx/>
              <a:buFontTx/>
              <a:buNone/>
              <a:defRPr lang="de-DE" sz="1600">
                <a:solidFill>
                  <a:srgbClr val="000000"/>
                </a:solidFill>
              </a:defRPr>
            </a:lvl1pPr>
            <a:lvl2pPr>
              <a:defRPr lang="de-DE"/>
            </a:lvl2pPr>
          </a:lstStyle>
          <a:p>
            <a:pPr marL="0" marR="0" lvl="0" indent="0" algn="l" defTabSz="914400">
              <a:lnSpc>
                <a:spcPct val="100000"/>
              </a:lnSpc>
              <a:spcBef>
                <a:spcPts val="0"/>
              </a:spcBef>
              <a:spcAft>
                <a:spcPts val="0"/>
              </a:spcAft>
              <a:buClrTx/>
              <a:buSzTx/>
              <a:buFontTx/>
              <a:buNone/>
              <a:defRPr/>
            </a:pPr>
            <a:r>
              <a:rPr lang="de-DE"/>
              <a:t>Volker Racho</a:t>
            </a:r>
            <a:endParaRPr lang="de-DE" baseline="30000"/>
          </a:p>
        </p:txBody>
      </p:sp>
      <p:sp>
        <p:nvSpPr>
          <p:cNvPr id="5"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rtlCol="0" anchor="t" anchorCtr="0" compatLnSpc="1">
            <a:prstTxWarp prst="textNoShape">
              <a:avLst/>
            </a:prstTxWarp>
          </a:bodyPr>
          <a:lstStyle/>
          <a:p>
            <a:pPr marL="0" marR="0" indent="0" algn="r" defTabSz="914400">
              <a:lnSpc>
                <a:spcPct val="100000"/>
              </a:lnSpc>
              <a:spcBef>
                <a:spcPts val="0"/>
              </a:spcBef>
              <a:spcAft>
                <a:spcPts val="0"/>
              </a:spcAft>
              <a:buClrTx/>
              <a:buSzTx/>
              <a:buFontTx/>
              <a:buNone/>
              <a:defRPr/>
            </a:pPr>
            <a:endParaRPr lang="de-DE" sz="2000" b="0" i="0" u="none" strike="noStrike" cap="none">
              <a:ln>
                <a:noFill/>
              </a:ln>
              <a:solidFill>
                <a:schemeClr val="tx1"/>
              </a:solidFill>
              <a:latin typeface="Arial"/>
            </a:endParaRPr>
          </a:p>
        </p:txBody>
      </p:sp>
      <p:sp>
        <p:nvSpPr>
          <p:cNvPr id="6" name="Inhaltsplatzhalter 2"/>
          <p:cNvSpPr>
            <a:spLocks noGrp="1"/>
          </p:cNvSpPr>
          <p:nvPr>
            <p:ph idx="13" hasCustomPrompt="1"/>
          </p:nvPr>
        </p:nvSpPr>
        <p:spPr bwMode="auto">
          <a:xfrm>
            <a:off x="320400" y="254846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00000"/>
              </a:lnSpc>
              <a:defRPr lang="de-DE" sz="1600">
                <a:solidFill>
                  <a:srgbClr val="000000"/>
                </a:solidFill>
              </a:defRPr>
            </a:lvl1pPr>
            <a:lvl2pPr>
              <a:defRPr lang="de-DE"/>
            </a:lvl2pPr>
          </a:lstStyle>
          <a:p>
            <a:pPr lvl="0">
              <a:defRPr/>
            </a:pPr>
            <a:r>
              <a:rPr lang="de-DE"/>
              <a:t>Deutsches Geodätisches Forschungsinstitut, Technische Universität München (DGFI-TUM)</a:t>
            </a:r>
            <a:endParaRPr/>
          </a:p>
        </p:txBody>
      </p:sp>
      <p:sp>
        <p:nvSpPr>
          <p:cNvPr id="7" name="Inhaltsplatzhalter 2"/>
          <p:cNvSpPr>
            <a:spLocks noGrp="1"/>
          </p:cNvSpPr>
          <p:nvPr>
            <p:ph idx="14" hasCustomPrompt="1"/>
          </p:nvPr>
        </p:nvSpPr>
        <p:spPr bwMode="auto">
          <a:xfrm>
            <a:off x="320400" y="4087800"/>
            <a:ext cx="8508999" cy="19130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00000"/>
              </a:lnSpc>
              <a:defRPr lang="de-DE" sz="1600">
                <a:solidFill>
                  <a:srgbClr val="000000"/>
                </a:solidFill>
              </a:defRPr>
            </a:lvl1pPr>
            <a:lvl2pPr>
              <a:defRPr lang="de-DE"/>
            </a:lvl2pPr>
          </a:lstStyle>
          <a:p>
            <a:pPr lvl="0">
              <a:defRPr/>
            </a:pPr>
            <a:r>
              <a:rPr lang="de-DE"/>
              <a:t>Jahrestagung der Allianz Deutscher Designer</a:t>
            </a:r>
            <a:endParaRPr/>
          </a:p>
        </p:txBody>
      </p:sp>
      <p:sp>
        <p:nvSpPr>
          <p:cNvPr id="8" name="Inhaltsplatzhalter 2"/>
          <p:cNvSpPr>
            <a:spLocks noGrp="1"/>
          </p:cNvSpPr>
          <p:nvPr>
            <p:ph idx="15" hasCustomPrompt="1"/>
          </p:nvPr>
        </p:nvSpPr>
        <p:spPr bwMode="auto">
          <a:xfrm>
            <a:off x="320400" y="4277975"/>
            <a:ext cx="8508999" cy="21544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00000"/>
              </a:lnSpc>
              <a:defRPr lang="de-DE" sz="1600">
                <a:solidFill>
                  <a:srgbClr val="000000"/>
                </a:solidFill>
              </a:defRPr>
            </a:lvl1pPr>
            <a:lvl2pPr>
              <a:defRPr lang="de-DE"/>
            </a:lvl2pPr>
          </a:lstStyle>
          <a:p>
            <a:pPr lvl="0">
              <a:defRPr/>
            </a:pPr>
            <a:r>
              <a:rPr lang="de-DE"/>
              <a:t>Linsengericht, 23.01.2016</a:t>
            </a:r>
            <a:endParaRPr/>
          </a:p>
          <a:p>
            <a:pPr lvl="0">
              <a:defRPr/>
            </a:pPr>
            <a:endParaRPr lang="de-DE"/>
          </a:p>
        </p:txBody>
      </p:sp>
      <p:sp>
        <p:nvSpPr>
          <p:cNvPr id="9" name="Titel 1"/>
          <p:cNvSpPr>
            <a:spLocks noGrp="1"/>
          </p:cNvSpPr>
          <p:nvPr>
            <p:ph type="title"/>
          </p:nvPr>
        </p:nvSpPr>
        <p:spPr bwMode="auto">
          <a:xfrm>
            <a:off x="628650" y="274638"/>
            <a:ext cx="7886700" cy="993775"/>
          </a:xfrm>
          <a:prstGeom prst="rect">
            <a:avLst/>
          </a:prstGeom>
        </p:spPr>
        <p:txBody>
          <a:bodyPr/>
          <a:lstStyle/>
          <a:p>
            <a:pPr>
              <a:defRPr/>
            </a:pPr>
            <a:r>
              <a:rPr lang="de-DE"/>
              <a:t>Titelmasterformat durch Klicken bearbeiten</a:t>
            </a:r>
            <a:endParaRPr lang="en-US"/>
          </a:p>
        </p:txBody>
      </p:sp>
    </p:spTree>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de-DE"/>
              <a:t>Titelmasterformat durch Klicken bearbeiten</a:t>
            </a:r>
          </a:p>
        </p:txBody>
      </p:sp>
      <p:sp>
        <p:nvSpPr>
          <p:cNvPr id="3" name="Untertitel 2"/>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p>
        </p:txBody>
      </p:sp>
      <p:sp>
        <p:nvSpPr>
          <p:cNvPr id="4" name="Datumsplatzhalter 3"/>
          <p:cNvSpPr>
            <a:spLocks noGrp="1"/>
          </p:cNvSpPr>
          <p:nvPr>
            <p:ph type="dt" sz="half" idx="10"/>
          </p:nvPr>
        </p:nvSpPr>
        <p:spPr>
          <a:xfrm>
            <a:off x="628650" y="4767263"/>
            <a:ext cx="2057400" cy="274637"/>
          </a:xfrm>
          <a:prstGeom prst="rect">
            <a:avLst/>
          </a:prstGeom>
        </p:spPr>
        <p:txBody>
          <a:bodyPr/>
          <a:lstStyle/>
          <a:p>
            <a:fld id="{1AB7A361-DA1B-400E-96FE-F48022AD638C}" type="datetimeFigureOut">
              <a:rPr lang="de-DE" smtClean="0"/>
              <a:t>02.09.2025</a:t>
            </a:fld>
            <a:endParaRPr lang="de-DE"/>
          </a:p>
        </p:txBody>
      </p:sp>
      <p:sp>
        <p:nvSpPr>
          <p:cNvPr id="5" name="Fußzeilenplatzhalter 4"/>
          <p:cNvSpPr>
            <a:spLocks noGrp="1"/>
          </p:cNvSpPr>
          <p:nvPr>
            <p:ph type="ftr" sz="quarter" idx="11"/>
          </p:nvPr>
        </p:nvSpPr>
        <p:spPr>
          <a:xfrm>
            <a:off x="3028950" y="4767263"/>
            <a:ext cx="3086100" cy="274637"/>
          </a:xfrm>
          <a:prstGeom prst="rect">
            <a:avLst/>
          </a:prstGeom>
        </p:spPr>
        <p:txBody>
          <a:bodyPr/>
          <a:lstStyle/>
          <a:p>
            <a:endParaRPr lang="de-DE"/>
          </a:p>
        </p:txBody>
      </p:sp>
      <p:sp>
        <p:nvSpPr>
          <p:cNvPr id="6" name="Foliennummernplatzhalter 5"/>
          <p:cNvSpPr>
            <a:spLocks noGrp="1"/>
          </p:cNvSpPr>
          <p:nvPr>
            <p:ph type="sldNum" sz="quarter" idx="12"/>
          </p:nvPr>
        </p:nvSpPr>
        <p:spPr>
          <a:xfrm>
            <a:off x="6457950" y="4767263"/>
            <a:ext cx="2057400" cy="274637"/>
          </a:xfrm>
          <a:prstGeom prst="rect">
            <a:avLst/>
          </a:prstGeom>
        </p:spPr>
        <p:txBody>
          <a:bodyPr/>
          <a:lstStyle/>
          <a:p>
            <a:fld id="{0F341982-7C8A-4769-BDCB-877156DF6656}" type="slidenum">
              <a:rPr lang="de-DE" smtClean="0"/>
              <a:t>‹#›</a:t>
            </a:fld>
            <a:endParaRPr lang="de-DE"/>
          </a:p>
        </p:txBody>
      </p:sp>
    </p:spTree>
    <p:extLst>
      <p:ext uri="{BB962C8B-B14F-4D97-AF65-F5344CB8AC3E}">
        <p14:creationId xmlns:p14="http://schemas.microsoft.com/office/powerpoint/2010/main" val="2951976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628650" y="274638"/>
            <a:ext cx="7886700" cy="993775"/>
          </a:xfrm>
          <a:prstGeom prst="rect">
            <a:avLst/>
          </a:prstGeom>
        </p:spPr>
        <p:txBody>
          <a:bodyPr/>
          <a:lstStyle/>
          <a:p>
            <a:r>
              <a:rPr lang="de-DE"/>
              <a:t>Titelmasterformat durch Klicken bearbeiten</a:t>
            </a:r>
          </a:p>
        </p:txBody>
      </p:sp>
      <p:sp>
        <p:nvSpPr>
          <p:cNvPr id="3" name="Inhaltsplatzhalter 2"/>
          <p:cNvSpPr>
            <a:spLocks noGrp="1"/>
          </p:cNvSpPr>
          <p:nvPr>
            <p:ph idx="1"/>
          </p:nvPr>
        </p:nvSpPr>
        <p:spPr>
          <a:xfrm>
            <a:off x="628650" y="1370013"/>
            <a:ext cx="7886700" cy="3262312"/>
          </a:xfrm>
          <a:prstGeom prst="rect">
            <a:avLst/>
          </a:prstGeo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a:xfrm>
            <a:off x="628650" y="4767263"/>
            <a:ext cx="2057400" cy="274637"/>
          </a:xfrm>
          <a:prstGeom prst="rect">
            <a:avLst/>
          </a:prstGeom>
        </p:spPr>
        <p:txBody>
          <a:bodyPr/>
          <a:lstStyle/>
          <a:p>
            <a:fld id="{1AB7A361-DA1B-400E-96FE-F48022AD638C}" type="datetimeFigureOut">
              <a:rPr lang="de-DE" smtClean="0"/>
              <a:t>02.09.2025</a:t>
            </a:fld>
            <a:endParaRPr lang="de-DE"/>
          </a:p>
        </p:txBody>
      </p:sp>
      <p:sp>
        <p:nvSpPr>
          <p:cNvPr id="5" name="Fußzeilenplatzhalter 4"/>
          <p:cNvSpPr>
            <a:spLocks noGrp="1"/>
          </p:cNvSpPr>
          <p:nvPr>
            <p:ph type="ftr" sz="quarter" idx="11"/>
          </p:nvPr>
        </p:nvSpPr>
        <p:spPr>
          <a:xfrm>
            <a:off x="3028950" y="4767263"/>
            <a:ext cx="3086100" cy="274637"/>
          </a:xfrm>
          <a:prstGeom prst="rect">
            <a:avLst/>
          </a:prstGeom>
        </p:spPr>
        <p:txBody>
          <a:bodyPr/>
          <a:lstStyle/>
          <a:p>
            <a:endParaRPr lang="de-DE"/>
          </a:p>
        </p:txBody>
      </p:sp>
      <p:sp>
        <p:nvSpPr>
          <p:cNvPr id="6" name="Foliennummernplatzhalter 5"/>
          <p:cNvSpPr>
            <a:spLocks noGrp="1"/>
          </p:cNvSpPr>
          <p:nvPr>
            <p:ph type="sldNum" sz="quarter" idx="12"/>
          </p:nvPr>
        </p:nvSpPr>
        <p:spPr>
          <a:xfrm>
            <a:off x="6457950" y="4767263"/>
            <a:ext cx="2057400" cy="274637"/>
          </a:xfrm>
          <a:prstGeom prst="rect">
            <a:avLst/>
          </a:prstGeom>
        </p:spPr>
        <p:txBody>
          <a:bodyPr/>
          <a:lstStyle/>
          <a:p>
            <a:fld id="{0F341982-7C8A-4769-BDCB-877156DF6656}" type="slidenum">
              <a:rPr lang="de-DE" smtClean="0"/>
              <a:t>‹#›</a:t>
            </a:fld>
            <a:endParaRPr lang="de-DE"/>
          </a:p>
        </p:txBody>
      </p:sp>
    </p:spTree>
    <p:extLst>
      <p:ext uri="{BB962C8B-B14F-4D97-AF65-F5344CB8AC3E}">
        <p14:creationId xmlns:p14="http://schemas.microsoft.com/office/powerpoint/2010/main" val="2230763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23888" y="1282700"/>
            <a:ext cx="7886700" cy="2139950"/>
          </a:xfrm>
          <a:prstGeom prst="rect">
            <a:avLst/>
          </a:prstGeom>
        </p:spPr>
        <p:txBody>
          <a:bodyPr anchor="b"/>
          <a:lstStyle>
            <a:lvl1pPr>
              <a:defRPr sz="6000"/>
            </a:lvl1pPr>
          </a:lstStyle>
          <a:p>
            <a:r>
              <a:rPr lang="de-DE"/>
              <a:t>Titelmasterformat durch Klicken bearbeiten</a:t>
            </a:r>
          </a:p>
        </p:txBody>
      </p:sp>
      <p:sp>
        <p:nvSpPr>
          <p:cNvPr id="3" name="Textplatzhalter 2"/>
          <p:cNvSpPr>
            <a:spLocks noGrp="1"/>
          </p:cNvSpPr>
          <p:nvPr>
            <p:ph type="body" idx="1"/>
          </p:nvPr>
        </p:nvSpPr>
        <p:spPr>
          <a:xfrm>
            <a:off x="623888" y="3441700"/>
            <a:ext cx="7886700" cy="1125538"/>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Formatvorlagen des Textmasters bearbeiten</a:t>
            </a:r>
          </a:p>
        </p:txBody>
      </p:sp>
      <p:sp>
        <p:nvSpPr>
          <p:cNvPr id="4" name="Datumsplatzhalter 3"/>
          <p:cNvSpPr>
            <a:spLocks noGrp="1"/>
          </p:cNvSpPr>
          <p:nvPr>
            <p:ph type="dt" sz="half" idx="10"/>
          </p:nvPr>
        </p:nvSpPr>
        <p:spPr>
          <a:xfrm>
            <a:off x="628650" y="4767263"/>
            <a:ext cx="2057400" cy="274637"/>
          </a:xfrm>
          <a:prstGeom prst="rect">
            <a:avLst/>
          </a:prstGeom>
        </p:spPr>
        <p:txBody>
          <a:bodyPr/>
          <a:lstStyle/>
          <a:p>
            <a:fld id="{1AB7A361-DA1B-400E-96FE-F48022AD638C}" type="datetimeFigureOut">
              <a:rPr lang="de-DE" smtClean="0"/>
              <a:t>02.09.2025</a:t>
            </a:fld>
            <a:endParaRPr lang="de-DE"/>
          </a:p>
        </p:txBody>
      </p:sp>
      <p:sp>
        <p:nvSpPr>
          <p:cNvPr id="5" name="Fußzeilenplatzhalter 4"/>
          <p:cNvSpPr>
            <a:spLocks noGrp="1"/>
          </p:cNvSpPr>
          <p:nvPr>
            <p:ph type="ftr" sz="quarter" idx="11"/>
          </p:nvPr>
        </p:nvSpPr>
        <p:spPr>
          <a:xfrm>
            <a:off x="3028950" y="4767263"/>
            <a:ext cx="3086100" cy="274637"/>
          </a:xfrm>
          <a:prstGeom prst="rect">
            <a:avLst/>
          </a:prstGeom>
        </p:spPr>
        <p:txBody>
          <a:bodyPr/>
          <a:lstStyle/>
          <a:p>
            <a:endParaRPr lang="de-DE"/>
          </a:p>
        </p:txBody>
      </p:sp>
      <p:sp>
        <p:nvSpPr>
          <p:cNvPr id="6" name="Foliennummernplatzhalter 5"/>
          <p:cNvSpPr>
            <a:spLocks noGrp="1"/>
          </p:cNvSpPr>
          <p:nvPr>
            <p:ph type="sldNum" sz="quarter" idx="12"/>
          </p:nvPr>
        </p:nvSpPr>
        <p:spPr>
          <a:xfrm>
            <a:off x="6457950" y="4767263"/>
            <a:ext cx="2057400" cy="274637"/>
          </a:xfrm>
          <a:prstGeom prst="rect">
            <a:avLst/>
          </a:prstGeom>
        </p:spPr>
        <p:txBody>
          <a:bodyPr/>
          <a:lstStyle/>
          <a:p>
            <a:fld id="{0F341982-7C8A-4769-BDCB-877156DF6656}" type="slidenum">
              <a:rPr lang="de-DE" smtClean="0"/>
              <a:t>‹#›</a:t>
            </a:fld>
            <a:endParaRPr lang="de-DE"/>
          </a:p>
        </p:txBody>
      </p:sp>
    </p:spTree>
    <p:extLst>
      <p:ext uri="{BB962C8B-B14F-4D97-AF65-F5344CB8AC3E}">
        <p14:creationId xmlns:p14="http://schemas.microsoft.com/office/powerpoint/2010/main" val="2335524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628650" y="274638"/>
            <a:ext cx="7886700" cy="993775"/>
          </a:xfrm>
          <a:prstGeom prst="rect">
            <a:avLst/>
          </a:prstGeom>
        </p:spPr>
        <p:txBody>
          <a:bodyPr/>
          <a:lstStyle/>
          <a:p>
            <a:r>
              <a:rPr lang="de-DE"/>
              <a:t>Titelmasterformat durch Klicken bearbeiten</a:t>
            </a:r>
          </a:p>
        </p:txBody>
      </p:sp>
      <p:sp>
        <p:nvSpPr>
          <p:cNvPr id="3" name="Inhaltsplatzhalter 2"/>
          <p:cNvSpPr>
            <a:spLocks noGrp="1"/>
          </p:cNvSpPr>
          <p:nvPr>
            <p:ph sz="half" idx="1"/>
          </p:nvPr>
        </p:nvSpPr>
        <p:spPr>
          <a:xfrm>
            <a:off x="628650" y="1370013"/>
            <a:ext cx="3867150" cy="3262312"/>
          </a:xfrm>
          <a:prstGeom prst="rect">
            <a:avLst/>
          </a:prstGeo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648200" y="1370013"/>
            <a:ext cx="3867150" cy="3262312"/>
          </a:xfrm>
          <a:prstGeom prst="rect">
            <a:avLst/>
          </a:prstGeo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a:xfrm>
            <a:off x="628650" y="4767263"/>
            <a:ext cx="2057400" cy="274637"/>
          </a:xfrm>
          <a:prstGeom prst="rect">
            <a:avLst/>
          </a:prstGeom>
        </p:spPr>
        <p:txBody>
          <a:bodyPr/>
          <a:lstStyle/>
          <a:p>
            <a:fld id="{1AB7A361-DA1B-400E-96FE-F48022AD638C}" type="datetimeFigureOut">
              <a:rPr lang="de-DE" smtClean="0"/>
              <a:t>02.09.2025</a:t>
            </a:fld>
            <a:endParaRPr lang="de-DE"/>
          </a:p>
        </p:txBody>
      </p:sp>
      <p:sp>
        <p:nvSpPr>
          <p:cNvPr id="6" name="Fußzeilenplatzhalter 5"/>
          <p:cNvSpPr>
            <a:spLocks noGrp="1"/>
          </p:cNvSpPr>
          <p:nvPr>
            <p:ph type="ftr" sz="quarter" idx="11"/>
          </p:nvPr>
        </p:nvSpPr>
        <p:spPr>
          <a:xfrm>
            <a:off x="3028950" y="4767263"/>
            <a:ext cx="3086100" cy="274637"/>
          </a:xfrm>
          <a:prstGeom prst="rect">
            <a:avLst/>
          </a:prstGeom>
        </p:spPr>
        <p:txBody>
          <a:bodyPr/>
          <a:lstStyle/>
          <a:p>
            <a:endParaRPr lang="de-DE"/>
          </a:p>
        </p:txBody>
      </p:sp>
      <p:sp>
        <p:nvSpPr>
          <p:cNvPr id="7" name="Foliennummernplatzhalter 6"/>
          <p:cNvSpPr>
            <a:spLocks noGrp="1"/>
          </p:cNvSpPr>
          <p:nvPr>
            <p:ph type="sldNum" sz="quarter" idx="12"/>
          </p:nvPr>
        </p:nvSpPr>
        <p:spPr>
          <a:xfrm>
            <a:off x="6457950" y="4767263"/>
            <a:ext cx="2057400" cy="274637"/>
          </a:xfrm>
          <a:prstGeom prst="rect">
            <a:avLst/>
          </a:prstGeom>
        </p:spPr>
        <p:txBody>
          <a:bodyPr/>
          <a:lstStyle/>
          <a:p>
            <a:fld id="{0F341982-7C8A-4769-BDCB-877156DF6656}" type="slidenum">
              <a:rPr lang="de-DE" smtClean="0"/>
              <a:t>‹#›</a:t>
            </a:fld>
            <a:endParaRPr lang="de-DE"/>
          </a:p>
        </p:txBody>
      </p:sp>
    </p:spTree>
    <p:extLst>
      <p:ext uri="{BB962C8B-B14F-4D97-AF65-F5344CB8AC3E}">
        <p14:creationId xmlns:p14="http://schemas.microsoft.com/office/powerpoint/2010/main" val="2475484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630238" y="274638"/>
            <a:ext cx="7886700" cy="993775"/>
          </a:xfrm>
          <a:prstGeom prst="rect">
            <a:avLst/>
          </a:prstGeom>
        </p:spPr>
        <p:txBody>
          <a:bodyPr/>
          <a:lstStyle/>
          <a:p>
            <a:r>
              <a:rPr lang="de-DE"/>
              <a:t>Titelmasterformat durch Klicken bearbeiten</a:t>
            </a:r>
          </a:p>
        </p:txBody>
      </p:sp>
      <p:sp>
        <p:nvSpPr>
          <p:cNvPr id="3" name="Textplatzhalter 2"/>
          <p:cNvSpPr>
            <a:spLocks noGrp="1"/>
          </p:cNvSpPr>
          <p:nvPr>
            <p:ph type="body" idx="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4" name="Inhaltsplatzhalter 3"/>
          <p:cNvSpPr>
            <a:spLocks noGrp="1"/>
          </p:cNvSpPr>
          <p:nvPr>
            <p:ph sz="half" idx="2"/>
          </p:nvPr>
        </p:nvSpPr>
        <p:spPr>
          <a:xfrm>
            <a:off x="630238" y="1879600"/>
            <a:ext cx="3868737" cy="2762250"/>
          </a:xfrm>
          <a:prstGeom prst="rect">
            <a:avLst/>
          </a:prstGeo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6" name="Inhaltsplatzhalter 5"/>
          <p:cNvSpPr>
            <a:spLocks noGrp="1"/>
          </p:cNvSpPr>
          <p:nvPr>
            <p:ph sz="quarter" idx="4"/>
          </p:nvPr>
        </p:nvSpPr>
        <p:spPr>
          <a:xfrm>
            <a:off x="4629150" y="1879600"/>
            <a:ext cx="3887788" cy="2762250"/>
          </a:xfrm>
          <a:prstGeom prst="rect">
            <a:avLst/>
          </a:prstGeo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a:xfrm>
            <a:off x="628650" y="4767263"/>
            <a:ext cx="2057400" cy="274637"/>
          </a:xfrm>
          <a:prstGeom prst="rect">
            <a:avLst/>
          </a:prstGeom>
        </p:spPr>
        <p:txBody>
          <a:bodyPr/>
          <a:lstStyle/>
          <a:p>
            <a:fld id="{1AB7A361-DA1B-400E-96FE-F48022AD638C}" type="datetimeFigureOut">
              <a:rPr lang="de-DE" smtClean="0"/>
              <a:t>02.09.2025</a:t>
            </a:fld>
            <a:endParaRPr lang="de-DE"/>
          </a:p>
        </p:txBody>
      </p:sp>
      <p:sp>
        <p:nvSpPr>
          <p:cNvPr id="8" name="Fußzeilenplatzhalter 7"/>
          <p:cNvSpPr>
            <a:spLocks noGrp="1"/>
          </p:cNvSpPr>
          <p:nvPr>
            <p:ph type="ftr" sz="quarter" idx="11"/>
          </p:nvPr>
        </p:nvSpPr>
        <p:spPr>
          <a:xfrm>
            <a:off x="3028950" y="4767263"/>
            <a:ext cx="3086100" cy="274637"/>
          </a:xfrm>
          <a:prstGeom prst="rect">
            <a:avLst/>
          </a:prstGeom>
        </p:spPr>
        <p:txBody>
          <a:bodyPr/>
          <a:lstStyle/>
          <a:p>
            <a:endParaRPr lang="de-DE"/>
          </a:p>
        </p:txBody>
      </p:sp>
      <p:sp>
        <p:nvSpPr>
          <p:cNvPr id="9" name="Foliennummernplatzhalter 8"/>
          <p:cNvSpPr>
            <a:spLocks noGrp="1"/>
          </p:cNvSpPr>
          <p:nvPr>
            <p:ph type="sldNum" sz="quarter" idx="12"/>
          </p:nvPr>
        </p:nvSpPr>
        <p:spPr>
          <a:xfrm>
            <a:off x="6457950" y="4767263"/>
            <a:ext cx="2057400" cy="274637"/>
          </a:xfrm>
          <a:prstGeom prst="rect">
            <a:avLst/>
          </a:prstGeom>
        </p:spPr>
        <p:txBody>
          <a:bodyPr/>
          <a:lstStyle/>
          <a:p>
            <a:fld id="{0F341982-7C8A-4769-BDCB-877156DF6656}" type="slidenum">
              <a:rPr lang="de-DE" smtClean="0"/>
              <a:t>‹#›</a:t>
            </a:fld>
            <a:endParaRPr lang="de-DE"/>
          </a:p>
        </p:txBody>
      </p:sp>
    </p:spTree>
    <p:extLst>
      <p:ext uri="{BB962C8B-B14F-4D97-AF65-F5344CB8AC3E}">
        <p14:creationId xmlns:p14="http://schemas.microsoft.com/office/powerpoint/2010/main" val="3739565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628650" y="274638"/>
            <a:ext cx="7886700" cy="993775"/>
          </a:xfrm>
          <a:prstGeom prst="rect">
            <a:avLst/>
          </a:prstGeom>
        </p:spPr>
        <p:txBody>
          <a:bodyPr/>
          <a:lstStyle/>
          <a:p>
            <a:r>
              <a:rPr lang="de-DE"/>
              <a:t>Titelmasterformat durch Klicken bearbeiten</a:t>
            </a:r>
          </a:p>
        </p:txBody>
      </p:sp>
      <p:sp>
        <p:nvSpPr>
          <p:cNvPr id="3" name="Datumsplatzhalter 2"/>
          <p:cNvSpPr>
            <a:spLocks noGrp="1"/>
          </p:cNvSpPr>
          <p:nvPr>
            <p:ph type="dt" sz="half" idx="10"/>
          </p:nvPr>
        </p:nvSpPr>
        <p:spPr>
          <a:xfrm>
            <a:off x="628650" y="4767263"/>
            <a:ext cx="2057400" cy="274637"/>
          </a:xfrm>
          <a:prstGeom prst="rect">
            <a:avLst/>
          </a:prstGeom>
        </p:spPr>
        <p:txBody>
          <a:bodyPr/>
          <a:lstStyle/>
          <a:p>
            <a:fld id="{1AB7A361-DA1B-400E-96FE-F48022AD638C}" type="datetimeFigureOut">
              <a:rPr lang="de-DE" smtClean="0"/>
              <a:t>02.09.2025</a:t>
            </a:fld>
            <a:endParaRPr lang="de-DE"/>
          </a:p>
        </p:txBody>
      </p:sp>
      <p:sp>
        <p:nvSpPr>
          <p:cNvPr id="4" name="Fußzeilenplatzhalter 3"/>
          <p:cNvSpPr>
            <a:spLocks noGrp="1"/>
          </p:cNvSpPr>
          <p:nvPr>
            <p:ph type="ftr" sz="quarter" idx="11"/>
          </p:nvPr>
        </p:nvSpPr>
        <p:spPr>
          <a:xfrm>
            <a:off x="3028950" y="4767263"/>
            <a:ext cx="3086100" cy="274637"/>
          </a:xfrm>
          <a:prstGeom prst="rect">
            <a:avLst/>
          </a:prstGeom>
        </p:spPr>
        <p:txBody>
          <a:bodyPr/>
          <a:lstStyle/>
          <a:p>
            <a:endParaRPr lang="de-DE"/>
          </a:p>
        </p:txBody>
      </p:sp>
      <p:sp>
        <p:nvSpPr>
          <p:cNvPr id="5" name="Foliennummernplatzhalter 4"/>
          <p:cNvSpPr>
            <a:spLocks noGrp="1"/>
          </p:cNvSpPr>
          <p:nvPr>
            <p:ph type="sldNum" sz="quarter" idx="12"/>
          </p:nvPr>
        </p:nvSpPr>
        <p:spPr>
          <a:xfrm>
            <a:off x="6457950" y="4767263"/>
            <a:ext cx="2057400" cy="274637"/>
          </a:xfrm>
          <a:prstGeom prst="rect">
            <a:avLst/>
          </a:prstGeom>
        </p:spPr>
        <p:txBody>
          <a:bodyPr/>
          <a:lstStyle/>
          <a:p>
            <a:fld id="{0F341982-7C8A-4769-BDCB-877156DF6656}" type="slidenum">
              <a:rPr lang="de-DE" smtClean="0"/>
              <a:t>‹#›</a:t>
            </a:fld>
            <a:endParaRPr lang="de-DE"/>
          </a:p>
        </p:txBody>
      </p:sp>
    </p:spTree>
    <p:extLst>
      <p:ext uri="{BB962C8B-B14F-4D97-AF65-F5344CB8AC3E}">
        <p14:creationId xmlns:p14="http://schemas.microsoft.com/office/powerpoint/2010/main" val="1049028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a:xfrm>
            <a:off x="628650" y="4767263"/>
            <a:ext cx="2057400" cy="274637"/>
          </a:xfrm>
          <a:prstGeom prst="rect">
            <a:avLst/>
          </a:prstGeom>
        </p:spPr>
        <p:txBody>
          <a:bodyPr/>
          <a:lstStyle/>
          <a:p>
            <a:fld id="{1AB7A361-DA1B-400E-96FE-F48022AD638C}" type="datetimeFigureOut">
              <a:rPr lang="de-DE" smtClean="0"/>
              <a:t>02.09.2025</a:t>
            </a:fld>
            <a:endParaRPr lang="de-DE"/>
          </a:p>
        </p:txBody>
      </p:sp>
      <p:sp>
        <p:nvSpPr>
          <p:cNvPr id="3" name="Fußzeilenplatzhalter 2"/>
          <p:cNvSpPr>
            <a:spLocks noGrp="1"/>
          </p:cNvSpPr>
          <p:nvPr>
            <p:ph type="ftr" sz="quarter" idx="11"/>
          </p:nvPr>
        </p:nvSpPr>
        <p:spPr>
          <a:xfrm>
            <a:off x="3028950" y="4767263"/>
            <a:ext cx="3086100" cy="274637"/>
          </a:xfrm>
          <a:prstGeom prst="rect">
            <a:avLst/>
          </a:prstGeom>
        </p:spPr>
        <p:txBody>
          <a:bodyPr/>
          <a:lstStyle/>
          <a:p>
            <a:endParaRPr lang="de-DE"/>
          </a:p>
        </p:txBody>
      </p:sp>
      <p:sp>
        <p:nvSpPr>
          <p:cNvPr id="4" name="Foliennummernplatzhalter 3"/>
          <p:cNvSpPr>
            <a:spLocks noGrp="1"/>
          </p:cNvSpPr>
          <p:nvPr>
            <p:ph type="sldNum" sz="quarter" idx="12"/>
          </p:nvPr>
        </p:nvSpPr>
        <p:spPr>
          <a:xfrm>
            <a:off x="6457950" y="4767263"/>
            <a:ext cx="2057400" cy="274637"/>
          </a:xfrm>
          <a:prstGeom prst="rect">
            <a:avLst/>
          </a:prstGeom>
        </p:spPr>
        <p:txBody>
          <a:bodyPr/>
          <a:lstStyle/>
          <a:p>
            <a:fld id="{0F341982-7C8A-4769-BDCB-877156DF6656}" type="slidenum">
              <a:rPr lang="de-DE" smtClean="0"/>
              <a:t>‹#›</a:t>
            </a:fld>
            <a:endParaRPr lang="de-DE"/>
          </a:p>
        </p:txBody>
      </p:sp>
    </p:spTree>
    <p:extLst>
      <p:ext uri="{BB962C8B-B14F-4D97-AF65-F5344CB8AC3E}">
        <p14:creationId xmlns:p14="http://schemas.microsoft.com/office/powerpoint/2010/main" val="2614156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30238" y="342900"/>
            <a:ext cx="2949575" cy="1200150"/>
          </a:xfrm>
          <a:prstGeom prst="rect">
            <a:avLst/>
          </a:prstGeom>
        </p:spPr>
        <p:txBody>
          <a:bodyPr anchor="b"/>
          <a:lstStyle>
            <a:lvl1pPr>
              <a:defRPr sz="3200"/>
            </a:lvl1pPr>
          </a:lstStyle>
          <a:p>
            <a:r>
              <a:rPr lang="de-DE"/>
              <a:t>Titelmasterformat durch Klicken bearbeiten</a:t>
            </a:r>
          </a:p>
        </p:txBody>
      </p:sp>
      <p:sp>
        <p:nvSpPr>
          <p:cNvPr id="3" name="Inhaltsplatzhalter 2"/>
          <p:cNvSpPr>
            <a:spLocks noGrp="1"/>
          </p:cNvSpPr>
          <p:nvPr>
            <p:ph idx="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umsplatzhalter 4"/>
          <p:cNvSpPr>
            <a:spLocks noGrp="1"/>
          </p:cNvSpPr>
          <p:nvPr>
            <p:ph type="dt" sz="half" idx="10"/>
          </p:nvPr>
        </p:nvSpPr>
        <p:spPr>
          <a:xfrm>
            <a:off x="628650" y="4767263"/>
            <a:ext cx="2057400" cy="274637"/>
          </a:xfrm>
          <a:prstGeom prst="rect">
            <a:avLst/>
          </a:prstGeom>
        </p:spPr>
        <p:txBody>
          <a:bodyPr/>
          <a:lstStyle/>
          <a:p>
            <a:fld id="{1AB7A361-DA1B-400E-96FE-F48022AD638C}" type="datetimeFigureOut">
              <a:rPr lang="de-DE" smtClean="0"/>
              <a:t>02.09.2025</a:t>
            </a:fld>
            <a:endParaRPr lang="de-DE"/>
          </a:p>
        </p:txBody>
      </p:sp>
      <p:sp>
        <p:nvSpPr>
          <p:cNvPr id="6" name="Fußzeilenplatzhalter 5"/>
          <p:cNvSpPr>
            <a:spLocks noGrp="1"/>
          </p:cNvSpPr>
          <p:nvPr>
            <p:ph type="ftr" sz="quarter" idx="11"/>
          </p:nvPr>
        </p:nvSpPr>
        <p:spPr>
          <a:xfrm>
            <a:off x="3028950" y="4767263"/>
            <a:ext cx="3086100" cy="274637"/>
          </a:xfrm>
          <a:prstGeom prst="rect">
            <a:avLst/>
          </a:prstGeom>
        </p:spPr>
        <p:txBody>
          <a:bodyPr/>
          <a:lstStyle/>
          <a:p>
            <a:endParaRPr lang="de-DE"/>
          </a:p>
        </p:txBody>
      </p:sp>
      <p:sp>
        <p:nvSpPr>
          <p:cNvPr id="7" name="Foliennummernplatzhalter 6"/>
          <p:cNvSpPr>
            <a:spLocks noGrp="1"/>
          </p:cNvSpPr>
          <p:nvPr>
            <p:ph type="sldNum" sz="quarter" idx="12"/>
          </p:nvPr>
        </p:nvSpPr>
        <p:spPr>
          <a:xfrm>
            <a:off x="6457950" y="4767263"/>
            <a:ext cx="2057400" cy="274637"/>
          </a:xfrm>
          <a:prstGeom prst="rect">
            <a:avLst/>
          </a:prstGeom>
        </p:spPr>
        <p:txBody>
          <a:bodyPr/>
          <a:lstStyle/>
          <a:p>
            <a:fld id="{0F341982-7C8A-4769-BDCB-877156DF6656}" type="slidenum">
              <a:rPr lang="de-DE" smtClean="0"/>
              <a:t>‹#›</a:t>
            </a:fld>
            <a:endParaRPr lang="de-DE"/>
          </a:p>
        </p:txBody>
      </p:sp>
    </p:spTree>
    <p:extLst>
      <p:ext uri="{BB962C8B-B14F-4D97-AF65-F5344CB8AC3E}">
        <p14:creationId xmlns:p14="http://schemas.microsoft.com/office/powerpoint/2010/main" val="2259970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30238" y="342900"/>
            <a:ext cx="2949575" cy="1200150"/>
          </a:xfrm>
          <a:prstGeom prst="rect">
            <a:avLst/>
          </a:prstGeom>
        </p:spPr>
        <p:txBody>
          <a:bodyPr anchor="b"/>
          <a:lstStyle>
            <a:lvl1pPr>
              <a:defRPr sz="3200"/>
            </a:lvl1pPr>
          </a:lstStyle>
          <a:p>
            <a:r>
              <a:rPr lang="de-DE"/>
              <a:t>Titelmasterformat durch Klicken bearbeiten</a:t>
            </a:r>
          </a:p>
        </p:txBody>
      </p:sp>
      <p:sp>
        <p:nvSpPr>
          <p:cNvPr id="3" name="Bildplatzhalter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umsplatzhalter 4"/>
          <p:cNvSpPr>
            <a:spLocks noGrp="1"/>
          </p:cNvSpPr>
          <p:nvPr>
            <p:ph type="dt" sz="half" idx="10"/>
          </p:nvPr>
        </p:nvSpPr>
        <p:spPr>
          <a:xfrm>
            <a:off x="628650" y="4767263"/>
            <a:ext cx="2057400" cy="274637"/>
          </a:xfrm>
          <a:prstGeom prst="rect">
            <a:avLst/>
          </a:prstGeom>
        </p:spPr>
        <p:txBody>
          <a:bodyPr/>
          <a:lstStyle/>
          <a:p>
            <a:fld id="{1AB7A361-DA1B-400E-96FE-F48022AD638C}" type="datetimeFigureOut">
              <a:rPr lang="de-DE" smtClean="0"/>
              <a:t>02.09.2025</a:t>
            </a:fld>
            <a:endParaRPr lang="de-DE"/>
          </a:p>
        </p:txBody>
      </p:sp>
      <p:sp>
        <p:nvSpPr>
          <p:cNvPr id="6" name="Fußzeilenplatzhalter 5"/>
          <p:cNvSpPr>
            <a:spLocks noGrp="1"/>
          </p:cNvSpPr>
          <p:nvPr>
            <p:ph type="ftr" sz="quarter" idx="11"/>
          </p:nvPr>
        </p:nvSpPr>
        <p:spPr>
          <a:xfrm>
            <a:off x="3028950" y="4767263"/>
            <a:ext cx="3086100" cy="274637"/>
          </a:xfrm>
          <a:prstGeom prst="rect">
            <a:avLst/>
          </a:prstGeom>
        </p:spPr>
        <p:txBody>
          <a:bodyPr/>
          <a:lstStyle/>
          <a:p>
            <a:endParaRPr lang="de-DE"/>
          </a:p>
        </p:txBody>
      </p:sp>
      <p:sp>
        <p:nvSpPr>
          <p:cNvPr id="7" name="Foliennummernplatzhalter 6"/>
          <p:cNvSpPr>
            <a:spLocks noGrp="1"/>
          </p:cNvSpPr>
          <p:nvPr>
            <p:ph type="sldNum" sz="quarter" idx="12"/>
          </p:nvPr>
        </p:nvSpPr>
        <p:spPr>
          <a:xfrm>
            <a:off x="6457950" y="4767263"/>
            <a:ext cx="2057400" cy="274637"/>
          </a:xfrm>
          <a:prstGeom prst="rect">
            <a:avLst/>
          </a:prstGeom>
        </p:spPr>
        <p:txBody>
          <a:bodyPr/>
          <a:lstStyle/>
          <a:p>
            <a:fld id="{0F341982-7C8A-4769-BDCB-877156DF6656}" type="slidenum">
              <a:rPr lang="de-DE" smtClean="0"/>
              <a:t>‹#›</a:t>
            </a:fld>
            <a:endParaRPr lang="de-DE"/>
          </a:p>
        </p:txBody>
      </p:sp>
    </p:spTree>
    <p:extLst>
      <p:ext uri="{BB962C8B-B14F-4D97-AF65-F5344CB8AC3E}">
        <p14:creationId xmlns:p14="http://schemas.microsoft.com/office/powerpoint/2010/main" val="3193522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a:xfrm>
            <a:off x="628650" y="274638"/>
            <a:ext cx="7886700" cy="993775"/>
          </a:xfrm>
          <a:prstGeom prst="rect">
            <a:avLst/>
          </a:prstGeom>
        </p:spPr>
        <p:txBody>
          <a:bodyPr/>
          <a:lstStyle/>
          <a:p>
            <a:r>
              <a:rPr lang="de-DE"/>
              <a:t>Titelmasterformat durch Klicken bearbeiten</a:t>
            </a:r>
          </a:p>
        </p:txBody>
      </p:sp>
      <p:sp>
        <p:nvSpPr>
          <p:cNvPr id="3" name="Vertikaler Textplatzhalter 2"/>
          <p:cNvSpPr>
            <a:spLocks noGrp="1"/>
          </p:cNvSpPr>
          <p:nvPr>
            <p:ph type="body" orient="vert" idx="1"/>
          </p:nvPr>
        </p:nvSpPr>
        <p:spPr>
          <a:xfrm>
            <a:off x="628650" y="1370013"/>
            <a:ext cx="7886700" cy="3262312"/>
          </a:xfrm>
          <a:prstGeom prst="rect">
            <a:avLst/>
          </a:prstGeom>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a:xfrm>
            <a:off x="628650" y="4767263"/>
            <a:ext cx="2057400" cy="274637"/>
          </a:xfrm>
          <a:prstGeom prst="rect">
            <a:avLst/>
          </a:prstGeom>
        </p:spPr>
        <p:txBody>
          <a:bodyPr/>
          <a:lstStyle/>
          <a:p>
            <a:fld id="{1AB7A361-DA1B-400E-96FE-F48022AD638C}" type="datetimeFigureOut">
              <a:rPr lang="de-DE" smtClean="0"/>
              <a:t>02.09.2025</a:t>
            </a:fld>
            <a:endParaRPr lang="de-DE"/>
          </a:p>
        </p:txBody>
      </p:sp>
      <p:sp>
        <p:nvSpPr>
          <p:cNvPr id="5" name="Fußzeilenplatzhalter 4"/>
          <p:cNvSpPr>
            <a:spLocks noGrp="1"/>
          </p:cNvSpPr>
          <p:nvPr>
            <p:ph type="ftr" sz="quarter" idx="11"/>
          </p:nvPr>
        </p:nvSpPr>
        <p:spPr>
          <a:xfrm>
            <a:off x="3028950" y="4767263"/>
            <a:ext cx="3086100" cy="274637"/>
          </a:xfrm>
          <a:prstGeom prst="rect">
            <a:avLst/>
          </a:prstGeom>
        </p:spPr>
        <p:txBody>
          <a:bodyPr/>
          <a:lstStyle/>
          <a:p>
            <a:endParaRPr lang="de-DE"/>
          </a:p>
        </p:txBody>
      </p:sp>
      <p:sp>
        <p:nvSpPr>
          <p:cNvPr id="6" name="Foliennummernplatzhalter 5"/>
          <p:cNvSpPr>
            <a:spLocks noGrp="1"/>
          </p:cNvSpPr>
          <p:nvPr>
            <p:ph type="sldNum" sz="quarter" idx="12"/>
          </p:nvPr>
        </p:nvSpPr>
        <p:spPr>
          <a:xfrm>
            <a:off x="6457950" y="4767263"/>
            <a:ext cx="2057400" cy="274637"/>
          </a:xfrm>
          <a:prstGeom prst="rect">
            <a:avLst/>
          </a:prstGeom>
        </p:spPr>
        <p:txBody>
          <a:bodyPr/>
          <a:lstStyle/>
          <a:p>
            <a:fld id="{0F341982-7C8A-4769-BDCB-877156DF6656}" type="slidenum">
              <a:rPr lang="de-DE" smtClean="0"/>
              <a:t>‹#›</a:t>
            </a:fld>
            <a:endParaRPr lang="de-DE"/>
          </a:p>
        </p:txBody>
      </p:sp>
    </p:spTree>
    <p:extLst>
      <p:ext uri="{BB962C8B-B14F-4D97-AF65-F5344CB8AC3E}">
        <p14:creationId xmlns:p14="http://schemas.microsoft.com/office/powerpoint/2010/main" val="1452827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543675" y="274638"/>
            <a:ext cx="1971675" cy="4357687"/>
          </a:xfrm>
          <a:prstGeom prst="rect">
            <a:avLst/>
          </a:prstGeo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628650" y="274638"/>
            <a:ext cx="5762625" cy="4357687"/>
          </a:xfrm>
          <a:prstGeom prst="rect">
            <a:avLst/>
          </a:prstGeom>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a:xfrm>
            <a:off x="628650" y="4767263"/>
            <a:ext cx="2057400" cy="274637"/>
          </a:xfrm>
          <a:prstGeom prst="rect">
            <a:avLst/>
          </a:prstGeom>
        </p:spPr>
        <p:txBody>
          <a:bodyPr/>
          <a:lstStyle/>
          <a:p>
            <a:fld id="{1AB7A361-DA1B-400E-96FE-F48022AD638C}" type="datetimeFigureOut">
              <a:rPr lang="de-DE" smtClean="0"/>
              <a:t>02.09.2025</a:t>
            </a:fld>
            <a:endParaRPr lang="de-DE"/>
          </a:p>
        </p:txBody>
      </p:sp>
      <p:sp>
        <p:nvSpPr>
          <p:cNvPr id="5" name="Fußzeilenplatzhalter 4"/>
          <p:cNvSpPr>
            <a:spLocks noGrp="1"/>
          </p:cNvSpPr>
          <p:nvPr>
            <p:ph type="ftr" sz="quarter" idx="11"/>
          </p:nvPr>
        </p:nvSpPr>
        <p:spPr>
          <a:xfrm>
            <a:off x="3028950" y="4767263"/>
            <a:ext cx="3086100" cy="274637"/>
          </a:xfrm>
          <a:prstGeom prst="rect">
            <a:avLst/>
          </a:prstGeom>
        </p:spPr>
        <p:txBody>
          <a:bodyPr/>
          <a:lstStyle/>
          <a:p>
            <a:endParaRPr lang="de-DE"/>
          </a:p>
        </p:txBody>
      </p:sp>
      <p:sp>
        <p:nvSpPr>
          <p:cNvPr id="6" name="Foliennummernplatzhalter 5"/>
          <p:cNvSpPr>
            <a:spLocks noGrp="1"/>
          </p:cNvSpPr>
          <p:nvPr>
            <p:ph type="sldNum" sz="quarter" idx="12"/>
          </p:nvPr>
        </p:nvSpPr>
        <p:spPr>
          <a:xfrm>
            <a:off x="6457950" y="4767263"/>
            <a:ext cx="2057400" cy="274637"/>
          </a:xfrm>
          <a:prstGeom prst="rect">
            <a:avLst/>
          </a:prstGeom>
        </p:spPr>
        <p:txBody>
          <a:bodyPr/>
          <a:lstStyle/>
          <a:p>
            <a:fld id="{0F341982-7C8A-4769-BDCB-877156DF6656}" type="slidenum">
              <a:rPr lang="de-DE" smtClean="0"/>
              <a:t>‹#›</a:t>
            </a:fld>
            <a:endParaRPr lang="de-DE"/>
          </a:p>
        </p:txBody>
      </p:sp>
    </p:spTree>
    <p:extLst>
      <p:ext uri="{BB962C8B-B14F-4D97-AF65-F5344CB8AC3E}">
        <p14:creationId xmlns:p14="http://schemas.microsoft.com/office/powerpoint/2010/main" val="21122682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1.wmf"/><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4" name="Textfeld 10"/>
          <p:cNvSpPr/>
          <p:nvPr/>
        </p:nvSpPr>
        <p:spPr bwMode="auto">
          <a:xfrm>
            <a:off x="320401" y="235745"/>
            <a:ext cx="7699650" cy="347211"/>
          </a:xfrm>
          <a:prstGeom prst="rect">
            <a:avLst/>
          </a:prstGeom>
          <a:noFill/>
        </p:spPr>
        <p:txBody>
          <a:bodyPr wrap="square" lIns="0" tIns="0" rIns="0" bIns="0" rtlCol="0">
            <a:spAutoFit/>
          </a:bodyPr>
          <a:lstStyle/>
          <a:p>
            <a:pPr>
              <a:lnSpc>
                <a:spcPct val="94000"/>
              </a:lnSpc>
              <a:defRPr/>
            </a:pPr>
            <a:endParaRPr lang="de-DE" sz="800">
              <a:solidFill>
                <a:schemeClr val="tx2"/>
              </a:solidFill>
              <a:latin typeface="+mn-lt"/>
            </a:endParaRPr>
          </a:p>
          <a:p>
            <a:pPr>
              <a:lnSpc>
                <a:spcPct val="94000"/>
              </a:lnSpc>
              <a:defRPr/>
            </a:pPr>
            <a:r>
              <a:rPr lang="de-DE" sz="800">
                <a:solidFill>
                  <a:schemeClr val="tx2"/>
                </a:solidFill>
                <a:latin typeface="+mn-lt"/>
              </a:rPr>
              <a:t>Deutsches Geodätisches Forschungsinstitut (DGFI-TUM)</a:t>
            </a:r>
            <a:endParaRPr/>
          </a:p>
          <a:p>
            <a:pPr>
              <a:lnSpc>
                <a:spcPct val="94000"/>
              </a:lnSpc>
              <a:defRPr/>
            </a:pPr>
            <a:r>
              <a:rPr lang="de-DE" sz="800">
                <a:solidFill>
                  <a:schemeClr val="tx2"/>
                </a:solidFill>
                <a:latin typeface="+mn-lt"/>
              </a:rPr>
              <a:t>Technische Universität München</a:t>
            </a:r>
            <a:endParaRPr/>
          </a:p>
        </p:txBody>
      </p:sp>
      <p:pic>
        <p:nvPicPr>
          <p:cNvPr id="5" name="Bild 2" descr="20150416 tum logo blau png final.png"/>
          <p:cNvPicPr>
            <a:picLocks noChangeAspect="1"/>
          </p:cNvPicPr>
          <p:nvPr userDrawn="1"/>
        </p:nvPicPr>
        <p:blipFill>
          <a:blip r:embed="rId3"/>
          <a:stretch/>
        </p:blipFill>
        <p:spPr bwMode="auto">
          <a:xfrm>
            <a:off x="8199120" y="326114"/>
            <a:ext cx="627643" cy="28348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hf hdr="0" ftr="0"/>
  <p:txStyles>
    <p:titleStyle>
      <a:lvl1pPr algn="l">
        <a:lnSpc>
          <a:spcPct val="125000"/>
        </a:lnSpc>
        <a:spcBef>
          <a:spcPts val="0"/>
        </a:spcBef>
        <a:spcAft>
          <a:spcPts val="0"/>
        </a:spcAft>
        <a:defRPr sz="2200" b="0">
          <a:solidFill>
            <a:schemeClr val="tx1"/>
          </a:solidFill>
          <a:latin typeface="+mj-lt"/>
          <a:ea typeface="+mj-ea"/>
          <a:cs typeface="+mj-cs"/>
        </a:defRPr>
      </a:lvl1pPr>
      <a:lvl2pPr algn="l">
        <a:spcBef>
          <a:spcPts val="0"/>
        </a:spcBef>
        <a:spcAft>
          <a:spcPts val="0"/>
        </a:spcAft>
        <a:defRPr sz="2000" b="1">
          <a:solidFill>
            <a:schemeClr val="tx2"/>
          </a:solidFill>
          <a:latin typeface="Arial"/>
          <a:cs typeface="Arial"/>
        </a:defRPr>
      </a:lvl2pPr>
      <a:lvl3pPr algn="l">
        <a:spcBef>
          <a:spcPts val="0"/>
        </a:spcBef>
        <a:spcAft>
          <a:spcPts val="0"/>
        </a:spcAft>
        <a:defRPr sz="2000" b="1">
          <a:solidFill>
            <a:schemeClr val="tx2"/>
          </a:solidFill>
          <a:latin typeface="Arial"/>
          <a:cs typeface="Arial"/>
        </a:defRPr>
      </a:lvl3pPr>
      <a:lvl4pPr algn="l">
        <a:spcBef>
          <a:spcPts val="0"/>
        </a:spcBef>
        <a:spcAft>
          <a:spcPts val="0"/>
        </a:spcAft>
        <a:defRPr sz="2000" b="1">
          <a:solidFill>
            <a:schemeClr val="tx2"/>
          </a:solidFill>
          <a:latin typeface="Arial"/>
          <a:cs typeface="Arial"/>
        </a:defRPr>
      </a:lvl4pPr>
      <a:lvl5pPr algn="l">
        <a:spcBef>
          <a:spcPts val="0"/>
        </a:spcBef>
        <a:spcAft>
          <a:spcPts val="0"/>
        </a:spcAft>
        <a:defRPr sz="2000" b="1">
          <a:solidFill>
            <a:schemeClr val="tx2"/>
          </a:solidFill>
          <a:latin typeface="Arial"/>
          <a:cs typeface="Arial"/>
        </a:defRPr>
      </a:lvl5pPr>
      <a:lvl6pPr marL="457200" algn="l">
        <a:spcBef>
          <a:spcPts val="0"/>
        </a:spcBef>
        <a:spcAft>
          <a:spcPts val="0"/>
        </a:spcAft>
        <a:defRPr sz="2000" b="1">
          <a:solidFill>
            <a:schemeClr val="tx2"/>
          </a:solidFill>
          <a:latin typeface="Arial"/>
          <a:cs typeface="Arial"/>
        </a:defRPr>
      </a:lvl6pPr>
      <a:lvl7pPr marL="914400" algn="l">
        <a:spcBef>
          <a:spcPts val="0"/>
        </a:spcBef>
        <a:spcAft>
          <a:spcPts val="0"/>
        </a:spcAft>
        <a:defRPr sz="2000" b="1">
          <a:solidFill>
            <a:schemeClr val="tx2"/>
          </a:solidFill>
          <a:latin typeface="Arial"/>
          <a:cs typeface="Arial"/>
        </a:defRPr>
      </a:lvl7pPr>
      <a:lvl8pPr marL="1371600" algn="l">
        <a:spcBef>
          <a:spcPts val="0"/>
        </a:spcBef>
        <a:spcAft>
          <a:spcPts val="0"/>
        </a:spcAft>
        <a:defRPr sz="2000" b="1">
          <a:solidFill>
            <a:schemeClr val="tx2"/>
          </a:solidFill>
          <a:latin typeface="Arial"/>
          <a:cs typeface="Arial"/>
        </a:defRPr>
      </a:lvl8pPr>
      <a:lvl9pPr marL="1828800" algn="l">
        <a:spcBef>
          <a:spcPts val="0"/>
        </a:spcBef>
        <a:spcAft>
          <a:spcPts val="0"/>
        </a:spcAft>
        <a:defRPr sz="2000" b="1">
          <a:solidFill>
            <a:schemeClr val="tx2"/>
          </a:solidFill>
          <a:latin typeface="Arial"/>
          <a:cs typeface="Arial"/>
        </a:defRPr>
      </a:lvl9pPr>
    </p:titleStyle>
    <p:bodyStyle>
      <a:lvl1pPr algn="l">
        <a:lnSpc>
          <a:spcPct val="100000"/>
        </a:lnSpc>
        <a:spcBef>
          <a:spcPts val="0"/>
        </a:spcBef>
        <a:spcAft>
          <a:spcPts val="0"/>
        </a:spcAft>
        <a:defRPr sz="1600">
          <a:solidFill>
            <a:schemeClr val="tx1"/>
          </a:solidFill>
          <a:latin typeface="+mn-lt"/>
          <a:ea typeface="+mn-ea"/>
          <a:cs typeface="+mn-cs"/>
        </a:defRPr>
      </a:lvl1pPr>
      <a:lvl2pPr marL="176213" indent="-176213" algn="l">
        <a:lnSpc>
          <a:spcPct val="100000"/>
        </a:lnSpc>
        <a:spcBef>
          <a:spcPts val="0"/>
        </a:spcBef>
        <a:spcAft>
          <a:spcPts val="0"/>
        </a:spcAft>
        <a:buFont typeface="Arial"/>
        <a:buChar char="•"/>
        <a:defRPr sz="1600">
          <a:solidFill>
            <a:schemeClr val="tx1"/>
          </a:solidFill>
          <a:latin typeface="+mn-lt"/>
          <a:ea typeface="+mn-ea"/>
          <a:cs typeface="+mn-cs"/>
        </a:defRPr>
      </a:lvl2pPr>
      <a:lvl3pPr marL="360363" indent="-184150" algn="l">
        <a:lnSpc>
          <a:spcPct val="125000"/>
        </a:lnSpc>
        <a:spcBef>
          <a:spcPts val="0"/>
        </a:spcBef>
        <a:spcAft>
          <a:spcPts val="0"/>
        </a:spcAft>
        <a:buFont typeface="Symbol"/>
        <a:buChar char="-"/>
        <a:defRPr sz="1400">
          <a:solidFill>
            <a:schemeClr val="tx1"/>
          </a:solidFill>
          <a:latin typeface="+mn-lt"/>
          <a:ea typeface="+mn-ea"/>
          <a:cs typeface="+mn-cs"/>
        </a:defRPr>
      </a:lvl3pPr>
      <a:lvl4pPr marL="538163" indent="-177800" algn="l">
        <a:lnSpc>
          <a:spcPct val="125000"/>
        </a:lnSpc>
        <a:spcBef>
          <a:spcPts val="0"/>
        </a:spcBef>
        <a:spcAft>
          <a:spcPts val="0"/>
        </a:spcAft>
        <a:buFont typeface="Symbol"/>
        <a:buChar char="-"/>
        <a:defRPr sz="1400">
          <a:solidFill>
            <a:schemeClr val="tx1"/>
          </a:solidFill>
          <a:latin typeface="+mn-lt"/>
          <a:ea typeface="+mn-ea"/>
          <a:cs typeface="+mn-cs"/>
        </a:defRPr>
      </a:lvl4pPr>
      <a:lvl5pPr marL="714375" indent="-176213" algn="l">
        <a:lnSpc>
          <a:spcPct val="125000"/>
        </a:lnSpc>
        <a:spcBef>
          <a:spcPts val="0"/>
        </a:spcBef>
        <a:spcAft>
          <a:spcPts val="0"/>
        </a:spcAft>
        <a:buFont typeface="Symbol"/>
        <a:buChar char="-"/>
        <a:defRPr sz="14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p:bodyStyle>
    <p:otherStyle>
      <a:defPPr>
        <a:defRPr lang="de-DE"/>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Bild 2" descr="20150416 tum logo blau png final.png"/>
          <p:cNvPicPr>
            <a:picLocks noChangeAspect="1"/>
          </p:cNvPicPr>
          <p:nvPr userDrawn="1"/>
        </p:nvPicPr>
        <p:blipFill>
          <a:blip r:embed="rId13"/>
          <a:stretch>
            <a:fillRect/>
          </a:stretch>
        </p:blipFill>
        <p:spPr>
          <a:xfrm>
            <a:off x="8218411" y="324685"/>
            <a:ext cx="608352" cy="320400"/>
          </a:xfrm>
          <a:prstGeom prst="rect">
            <a:avLst/>
          </a:prstGeom>
        </p:spPr>
      </p:pic>
      <p:sp>
        <p:nvSpPr>
          <p:cNvPr id="8" name="Textfeld 7"/>
          <p:cNvSpPr txBox="1"/>
          <p:nvPr userDrawn="1"/>
        </p:nvSpPr>
        <p:spPr>
          <a:xfrm>
            <a:off x="251520" y="4803998"/>
            <a:ext cx="6413775" cy="159146"/>
          </a:xfrm>
          <a:prstGeom prst="rect">
            <a:avLst/>
          </a:prstGeom>
          <a:noFill/>
        </p:spPr>
        <p:txBody>
          <a:bodyPr wrap="square" lIns="0" tIns="0" rIns="0" bIns="0" rtlCol="0">
            <a:spAutoFit/>
          </a:bodyPr>
          <a:lstStyle/>
          <a:p>
            <a:pPr>
              <a:lnSpc>
                <a:spcPct val="94000"/>
              </a:lnSpc>
            </a:pPr>
            <a:r>
              <a:rPr lang="de-DE" sz="1100" dirty="0">
                <a:solidFill>
                  <a:srgbClr val="0065BD"/>
                </a:solidFill>
                <a:latin typeface="Arial"/>
              </a:rPr>
              <a:t>Deutsches Geodätisches Forschungsinstitut (DGFI-TUM) | Technische Universität München</a:t>
            </a:r>
          </a:p>
        </p:txBody>
      </p:sp>
      <p:sp>
        <p:nvSpPr>
          <p:cNvPr id="9" name="Textfeld 8"/>
          <p:cNvSpPr txBox="1"/>
          <p:nvPr userDrawn="1"/>
        </p:nvSpPr>
        <p:spPr>
          <a:xfrm>
            <a:off x="6983408" y="4805435"/>
            <a:ext cx="1737000" cy="173574"/>
          </a:xfrm>
          <a:prstGeom prst="rect">
            <a:avLst/>
          </a:prstGeom>
          <a:noFill/>
        </p:spPr>
        <p:txBody>
          <a:bodyPr wrap="square" lIns="0" tIns="0" rIns="0" bIns="0" rtlCol="0">
            <a:spAutoFit/>
          </a:bodyPr>
          <a:lstStyle/>
          <a:p>
            <a:pPr algn="r">
              <a:lnSpc>
                <a:spcPct val="94000"/>
              </a:lnSpc>
            </a:pPr>
            <a:fld id="{5F9ACE86-58BB-488B-8C06-6EB65DDCECAC}" type="slidenum">
              <a:rPr lang="de-DE" sz="1200" smtClean="0">
                <a:solidFill>
                  <a:schemeClr val="tx1"/>
                </a:solidFill>
                <a:latin typeface="Arial"/>
              </a:rPr>
              <a:pPr algn="r">
                <a:lnSpc>
                  <a:spcPct val="94000"/>
                </a:lnSpc>
              </a:pPr>
              <a:t>‹#›</a:t>
            </a:fld>
            <a:endParaRPr lang="de-DE" sz="1200" dirty="0">
              <a:solidFill>
                <a:schemeClr val="tx1"/>
              </a:solidFill>
              <a:latin typeface="Arial"/>
            </a:endParaRPr>
          </a:p>
        </p:txBody>
      </p:sp>
    </p:spTree>
    <p:extLst>
      <p:ext uri="{BB962C8B-B14F-4D97-AF65-F5344CB8AC3E}">
        <p14:creationId xmlns:p14="http://schemas.microsoft.com/office/powerpoint/2010/main" val="156246914"/>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 Target="slide19.xml"/><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60.png"/><Relationship Id="rId4" Type="http://schemas.openxmlformats.org/officeDocument/2006/relationships/slide" Target="slide2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slide" Target="slide25.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20.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10.png"/><Relationship Id="rId4" Type="http://schemas.openxmlformats.org/officeDocument/2006/relationships/slide" Target="slide4.xml"/></Relationships>
</file>

<file path=ppt/slides/_rels/slide2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4.png"/><Relationship Id="rId7"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slide" Target="slide4.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slide" Target="slide10.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 name="Titel 12"/>
          <p:cNvSpPr>
            <a:spLocks noGrp="1"/>
          </p:cNvSpPr>
          <p:nvPr>
            <p:ph type="title"/>
          </p:nvPr>
        </p:nvSpPr>
        <p:spPr>
          <a:xfrm>
            <a:off x="311473" y="714251"/>
            <a:ext cx="8508999" cy="1641475"/>
          </a:xfrm>
        </p:spPr>
        <p:txBody>
          <a:bodyPr/>
          <a:lstStyle/>
          <a:p>
            <a:pPr>
              <a:lnSpc>
                <a:spcPct val="100000"/>
              </a:lnSpc>
              <a:spcBef>
                <a:spcPts val="4200"/>
              </a:spcBef>
              <a:spcAft>
                <a:spcPts val="7200"/>
              </a:spcAft>
            </a:pPr>
            <a:br>
              <a:rPr lang="en-US" sz="2400" dirty="0"/>
            </a:br>
            <a:r>
              <a:rPr lang="en-US" sz="2400" b="1" dirty="0"/>
              <a:t>Using DORIS for extracting ionospheric information at satellite altimetry observation points</a:t>
            </a:r>
            <a:endParaRPr lang="de-DE" sz="2800" b="1" dirty="0"/>
          </a:p>
        </p:txBody>
      </p:sp>
      <p:sp>
        <p:nvSpPr>
          <p:cNvPr id="15" name="Inhaltsplatzhalter 14"/>
          <p:cNvSpPr>
            <a:spLocks noGrp="1"/>
          </p:cNvSpPr>
          <p:nvPr>
            <p:ph idx="13"/>
          </p:nvPr>
        </p:nvSpPr>
        <p:spPr>
          <a:xfrm>
            <a:off x="395536" y="2995471"/>
            <a:ext cx="8508999" cy="872424"/>
          </a:xfrm>
        </p:spPr>
        <p:txBody>
          <a:bodyPr/>
          <a:lstStyle/>
          <a:p>
            <a:r>
              <a:rPr lang="de-DE" sz="1400" dirty="0">
                <a:solidFill>
                  <a:schemeClr val="tx1"/>
                </a:solidFill>
              </a:rPr>
              <a:t>Deutsches Geodätisches Forschungsinstitut (DGFI-TUM)</a:t>
            </a:r>
          </a:p>
          <a:p>
            <a:r>
              <a:rPr lang="de-DE" sz="1400" dirty="0">
                <a:solidFill>
                  <a:schemeClr val="tx1"/>
                </a:solidFill>
              </a:rPr>
              <a:t>Technische Universität München</a:t>
            </a:r>
          </a:p>
        </p:txBody>
      </p:sp>
      <p:sp>
        <p:nvSpPr>
          <p:cNvPr id="16" name="Inhaltsplatzhalter 4"/>
          <p:cNvSpPr>
            <a:spLocks noGrp="1"/>
          </p:cNvSpPr>
          <p:nvPr>
            <p:ph idx="14"/>
          </p:nvPr>
        </p:nvSpPr>
        <p:spPr>
          <a:xfrm>
            <a:off x="395536" y="4587974"/>
            <a:ext cx="8508999" cy="504056"/>
          </a:xfrm>
        </p:spPr>
        <p:txBody>
          <a:bodyPr/>
          <a:lstStyle/>
          <a:p>
            <a:r>
              <a:rPr lang="de-DE" sz="1400" dirty="0">
                <a:solidFill>
                  <a:schemeClr val="tx1"/>
                </a:solidFill>
              </a:rPr>
              <a:t>IAG 2025</a:t>
            </a:r>
            <a:r>
              <a:rPr lang="en-US" sz="1400" dirty="0">
                <a:solidFill>
                  <a:schemeClr val="tx1"/>
                </a:solidFill>
              </a:rPr>
              <a:t> Scientific </a:t>
            </a:r>
            <a:r>
              <a:rPr lang="en-US" altLang="zh-CN" sz="1400" dirty="0">
                <a:solidFill>
                  <a:schemeClr val="tx1"/>
                </a:solidFill>
              </a:rPr>
              <a:t>Assembly J01: Geodetic Space Weather Research</a:t>
            </a:r>
            <a:endParaRPr lang="en-US" sz="1400" dirty="0">
              <a:solidFill>
                <a:schemeClr val="tx1"/>
              </a:solidFill>
            </a:endParaRPr>
          </a:p>
        </p:txBody>
      </p:sp>
      <p:sp>
        <p:nvSpPr>
          <p:cNvPr id="17" name="Inhaltsplatzhalter 6"/>
          <p:cNvSpPr>
            <a:spLocks noGrp="1"/>
          </p:cNvSpPr>
          <p:nvPr>
            <p:ph idx="10"/>
          </p:nvPr>
        </p:nvSpPr>
        <p:spPr>
          <a:xfrm>
            <a:off x="395536" y="2504501"/>
            <a:ext cx="8508999" cy="307305"/>
          </a:xfrm>
        </p:spPr>
        <p:txBody>
          <a:bodyPr/>
          <a:lstStyle/>
          <a:p>
            <a:r>
              <a:rPr lang="de-DE" sz="1400" u="sng" dirty="0">
                <a:solidFill>
                  <a:schemeClr val="tx1"/>
                </a:solidFill>
              </a:rPr>
              <a:t>Ke Zhang</a:t>
            </a:r>
            <a:r>
              <a:rPr lang="de-DE" sz="1400" dirty="0">
                <a:solidFill>
                  <a:schemeClr val="tx1"/>
                </a:solidFill>
              </a:rPr>
              <a:t>, Denise Dettmering, Michael Schmidt</a:t>
            </a:r>
            <a:endParaRPr lang="en-US" sz="14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31D4CEF9-DEE0-621C-CBFB-CB3ACCDA40AD}"/>
              </a:ext>
            </a:extLst>
          </p:cNvPr>
          <p:cNvPicPr>
            <a:picLocks noChangeAspect="1"/>
          </p:cNvPicPr>
          <p:nvPr/>
        </p:nvPicPr>
        <p:blipFill>
          <a:blip r:embed="rId3"/>
          <a:srcRect r="6861" b="3274"/>
          <a:stretch>
            <a:fillRect/>
          </a:stretch>
        </p:blipFill>
        <p:spPr>
          <a:xfrm>
            <a:off x="3981517" y="2111574"/>
            <a:ext cx="5126987" cy="2662222"/>
          </a:xfrm>
          <a:prstGeom prst="rect">
            <a:avLst/>
          </a:prstGeom>
        </p:spPr>
      </p:pic>
      <p:pic>
        <p:nvPicPr>
          <p:cNvPr id="3" name="Picture 4">
            <a:extLst>
              <a:ext uri="{FF2B5EF4-FFF2-40B4-BE49-F238E27FC236}">
                <a16:creationId xmlns:a16="http://schemas.microsoft.com/office/drawing/2014/main" id="{590827D3-DDF4-D534-C82C-5FF95473DD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0990" y="1419622"/>
            <a:ext cx="4982019" cy="3312368"/>
          </a:xfrm>
          <a:prstGeom prst="rect">
            <a:avLst/>
          </a:prstGeom>
          <a:noFill/>
          <a:extLst>
            <a:ext uri="{909E8E84-426E-40DD-AFC4-6F175D3DCCD1}">
              <a14:hiddenFill xmlns:a14="http://schemas.microsoft.com/office/drawing/2010/main">
                <a:solidFill>
                  <a:srgbClr val="FFFFFF"/>
                </a:solidFill>
              </a14:hiddenFill>
            </a:ext>
          </a:extLst>
        </p:spPr>
      </p:pic>
      <p:sp>
        <p:nvSpPr>
          <p:cNvPr id="5" name="Titel 2"/>
          <p:cNvSpPr txBox="1">
            <a:spLocks/>
          </p:cNvSpPr>
          <p:nvPr/>
        </p:nvSpPr>
        <p:spPr>
          <a:xfrm>
            <a:off x="319091" y="411510"/>
            <a:ext cx="8508999" cy="3777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rPr>
              <a:t>Motivation</a:t>
            </a:r>
          </a:p>
        </p:txBody>
      </p:sp>
      <p:sp>
        <p:nvSpPr>
          <p:cNvPr id="4" name="Titel 2"/>
          <p:cNvSpPr txBox="1">
            <a:spLocks/>
          </p:cNvSpPr>
          <p:nvPr/>
        </p:nvSpPr>
        <p:spPr>
          <a:xfrm>
            <a:off x="312607" y="987574"/>
            <a:ext cx="5915577" cy="66936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nSpc>
                <a:spcPts val="2000"/>
              </a:lnSpc>
              <a:buFont typeface="Arial" panose="020B0604020202020204" pitchFamily="34" charset="0"/>
              <a:buChar char="•"/>
            </a:pPr>
            <a:r>
              <a:rPr lang="en-US" sz="1400" dirty="0">
                <a:latin typeface="Arial" panose="020B0604020202020204" pitchFamily="34" charset="0"/>
                <a:cs typeface="Arial" panose="020B0604020202020204" pitchFamily="34" charset="0"/>
              </a:rPr>
              <a:t>Ionospheric correction for Satellite Altimetry: millimeter-level accuracy required</a:t>
            </a:r>
          </a:p>
        </p:txBody>
      </p:sp>
      <p:sp>
        <p:nvSpPr>
          <p:cNvPr id="7" name="Titel 2"/>
          <p:cNvSpPr txBox="1">
            <a:spLocks/>
          </p:cNvSpPr>
          <p:nvPr/>
        </p:nvSpPr>
        <p:spPr>
          <a:xfrm>
            <a:off x="297008" y="3435846"/>
            <a:ext cx="8508999" cy="82073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1800" dirty="0">
              <a:latin typeface="Arial" panose="020B0604020202020204" pitchFamily="34" charset="0"/>
              <a:cs typeface="Arial" panose="020B0604020202020204" pitchFamily="34" charset="0"/>
            </a:endParaRPr>
          </a:p>
        </p:txBody>
      </p:sp>
      <p:sp>
        <p:nvSpPr>
          <p:cNvPr id="8" name="Titel 2">
            <a:extLst>
              <a:ext uri="{FF2B5EF4-FFF2-40B4-BE49-F238E27FC236}">
                <a16:creationId xmlns:a16="http://schemas.microsoft.com/office/drawing/2014/main" id="{0F1D5C30-2A8D-E033-C8F8-ACA620B00167}"/>
              </a:ext>
            </a:extLst>
          </p:cNvPr>
          <p:cNvSpPr txBox="1">
            <a:spLocks/>
          </p:cNvSpPr>
          <p:nvPr/>
        </p:nvSpPr>
        <p:spPr>
          <a:xfrm>
            <a:off x="297008" y="1563638"/>
            <a:ext cx="7803384" cy="105993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nSpc>
                <a:spcPts val="2000"/>
              </a:lnSpc>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GNSS ionospheric maps: sparsely distributed over the oceans</a:t>
            </a:r>
          </a:p>
          <a:p>
            <a:pPr marL="457200" indent="-457200">
              <a:lnSpc>
                <a:spcPts val="2000"/>
              </a:lnSpc>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Altimetry satellites carry DORIS receivers</a:t>
            </a:r>
          </a:p>
          <a:p>
            <a:pPr marL="457200" indent="-457200">
              <a:lnSpc>
                <a:spcPts val="2000"/>
              </a:lnSpc>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DORIS provides wide oceanic coverage</a:t>
            </a:r>
          </a:p>
        </p:txBody>
      </p:sp>
      <p:grpSp>
        <p:nvGrpSpPr>
          <p:cNvPr id="10" name="Gruppieren 9">
            <a:extLst>
              <a:ext uri="{FF2B5EF4-FFF2-40B4-BE49-F238E27FC236}">
                <a16:creationId xmlns:a16="http://schemas.microsoft.com/office/drawing/2014/main" id="{9D4C9AA2-BB83-882E-089D-6640CD6EC698}"/>
              </a:ext>
            </a:extLst>
          </p:cNvPr>
          <p:cNvGrpSpPr/>
          <p:nvPr/>
        </p:nvGrpSpPr>
        <p:grpSpPr>
          <a:xfrm>
            <a:off x="6179112" y="369704"/>
            <a:ext cx="2577823" cy="1616584"/>
            <a:chOff x="6179112" y="369704"/>
            <a:chExt cx="2577823" cy="1616584"/>
          </a:xfrm>
        </p:grpSpPr>
        <p:pic>
          <p:nvPicPr>
            <p:cNvPr id="6" name="Grafik 5">
              <a:extLst>
                <a:ext uri="{FF2B5EF4-FFF2-40B4-BE49-F238E27FC236}">
                  <a16:creationId xmlns:a16="http://schemas.microsoft.com/office/drawing/2014/main" id="{93DF9588-0133-55BA-C2BA-D71DFB0DE9B1}"/>
                </a:ext>
              </a:extLst>
            </p:cNvPr>
            <p:cNvPicPr>
              <a:picLocks noChangeAspect="1"/>
            </p:cNvPicPr>
            <p:nvPr/>
          </p:nvPicPr>
          <p:blipFill>
            <a:blip r:embed="rId5"/>
            <a:stretch>
              <a:fillRect/>
            </a:stretch>
          </p:blipFill>
          <p:spPr>
            <a:xfrm flipH="1">
              <a:off x="6179112" y="369704"/>
              <a:ext cx="2577823" cy="1616584"/>
            </a:xfrm>
            <a:prstGeom prst="rect">
              <a:avLst/>
            </a:prstGeom>
          </p:spPr>
        </p:pic>
        <p:sp>
          <p:nvSpPr>
            <p:cNvPr id="9" name="Textfeld 8">
              <a:extLst>
                <a:ext uri="{FF2B5EF4-FFF2-40B4-BE49-F238E27FC236}">
                  <a16:creationId xmlns:a16="http://schemas.microsoft.com/office/drawing/2014/main" id="{E9D24AF6-4660-8495-1B48-419EEB4504E0}"/>
                </a:ext>
              </a:extLst>
            </p:cNvPr>
            <p:cNvSpPr txBox="1"/>
            <p:nvPr/>
          </p:nvSpPr>
          <p:spPr>
            <a:xfrm>
              <a:off x="6228184" y="1546500"/>
              <a:ext cx="1451038" cy="215444"/>
            </a:xfrm>
            <a:prstGeom prst="rect">
              <a:avLst/>
            </a:prstGeom>
            <a:noFill/>
          </p:spPr>
          <p:txBody>
            <a:bodyPr wrap="none" rtlCol="0">
              <a:spAutoFit/>
            </a:bodyPr>
            <a:lstStyle/>
            <a:p>
              <a:r>
                <a:rPr lang="de-DE" sz="800" i="1" dirty="0">
                  <a:solidFill>
                    <a:schemeClr val="bg2">
                      <a:lumMod val="75000"/>
                    </a:schemeClr>
                  </a:solidFill>
                </a:rPr>
                <a:t>Jason-3 (NASA/JPL Image)</a:t>
              </a:r>
            </a:p>
          </p:txBody>
        </p:sp>
      </p:grpSp>
      <p:pic>
        <p:nvPicPr>
          <p:cNvPr id="11" name="图片 10">
            <a:extLst>
              <a:ext uri="{FF2B5EF4-FFF2-40B4-BE49-F238E27FC236}">
                <a16:creationId xmlns:a16="http://schemas.microsoft.com/office/drawing/2014/main" id="{6E7F7C20-6440-968B-7321-CB35824D02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99235" y="2283718"/>
            <a:ext cx="4457700" cy="2284860"/>
          </a:xfrm>
          <a:prstGeom prst="rect">
            <a:avLst/>
          </a:prstGeom>
        </p:spPr>
      </p:pic>
      <p:sp>
        <p:nvSpPr>
          <p:cNvPr id="12" name="Titel 2">
            <a:extLst>
              <a:ext uri="{FF2B5EF4-FFF2-40B4-BE49-F238E27FC236}">
                <a16:creationId xmlns:a16="http://schemas.microsoft.com/office/drawing/2014/main" id="{8EDDE5BA-5A46-C5AC-CE5D-967CA40EA34B}"/>
              </a:ext>
            </a:extLst>
          </p:cNvPr>
          <p:cNvSpPr txBox="1">
            <a:spLocks/>
          </p:cNvSpPr>
          <p:nvPr/>
        </p:nvSpPr>
        <p:spPr>
          <a:xfrm>
            <a:off x="297008" y="2962009"/>
            <a:ext cx="7803384" cy="105993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nSpc>
                <a:spcPts val="2000"/>
              </a:lnSpc>
              <a:spcAft>
                <a:spcPts val="600"/>
              </a:spcAft>
              <a:buFont typeface="Wingdings" panose="05000000000000000000" pitchFamily="2" charset="2"/>
              <a:buChar char="Ø"/>
            </a:pPr>
            <a:r>
              <a:rPr lang="en-US" sz="1400" dirty="0">
                <a:latin typeface="Arial" panose="020B0604020202020204" pitchFamily="34" charset="0"/>
                <a:cs typeface="Arial" panose="020B0604020202020204" pitchFamily="34" charset="0"/>
              </a:rPr>
              <a:t>Ionospheric correction for single-frequency altimetry using DORIS</a:t>
            </a:r>
          </a:p>
          <a:p>
            <a:pPr marL="457200" indent="-457200">
              <a:lnSpc>
                <a:spcPts val="2000"/>
              </a:lnSpc>
              <a:spcAft>
                <a:spcPts val="600"/>
              </a:spcAft>
              <a:buFont typeface="Wingdings" panose="05000000000000000000" pitchFamily="2" charset="2"/>
              <a:buChar char="Ø"/>
            </a:pPr>
            <a:r>
              <a:rPr lang="en-US" sz="1400" dirty="0">
                <a:latin typeface="Arial" panose="020B0604020202020204" pitchFamily="34" charset="0"/>
                <a:cs typeface="Arial" panose="020B0604020202020204" pitchFamily="34" charset="0"/>
              </a:rPr>
              <a:t>Comparison with IGS GIM corrections</a:t>
            </a:r>
          </a:p>
          <a:p>
            <a:pPr marL="457200" indent="-457200">
              <a:lnSpc>
                <a:spcPts val="2000"/>
              </a:lnSpc>
              <a:spcAft>
                <a:spcPts val="600"/>
              </a:spcAft>
              <a:buFont typeface="Wingdings" panose="05000000000000000000" pitchFamily="2" charset="2"/>
              <a:buChar char="Ø"/>
            </a:pPr>
            <a:r>
              <a:rPr lang="en-US" sz="1400" dirty="0">
                <a:latin typeface="Arial" panose="020B0604020202020204" pitchFamily="34" charset="0"/>
                <a:cs typeface="Arial" panose="020B0604020202020204" pitchFamily="34" charset="0"/>
              </a:rPr>
              <a:t>Validation with Jason-3 dual-frequency data</a:t>
            </a:r>
          </a:p>
        </p:txBody>
      </p:sp>
    </p:spTree>
    <p:extLst>
      <p:ext uri="{BB962C8B-B14F-4D97-AF65-F5344CB8AC3E}">
        <p14:creationId xmlns:p14="http://schemas.microsoft.com/office/powerpoint/2010/main" val="1055548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9"/>
                                        </p:tgtEl>
                                        <p:attrNameLst>
                                          <p:attrName>style.visibility</p:attrName>
                                        </p:attrNameLst>
                                      </p:cBhvr>
                                      <p:to>
                                        <p:strVal val="hidden"/>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1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par>
                                <p:cTn id="22" presetID="1" presetClass="exit" presetSubtype="0" fill="hold" nodeType="withEffect">
                                  <p:stCondLst>
                                    <p:cond delay="0"/>
                                  </p:stCondLst>
                                  <p:childTnLst>
                                    <p:set>
                                      <p:cBhvr>
                                        <p:cTn id="23"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96257-AFF0-6602-0385-2D8A2289322A}"/>
            </a:ext>
          </a:extLst>
        </p:cNvPr>
        <p:cNvGrpSpPr/>
        <p:nvPr/>
      </p:nvGrpSpPr>
      <p:grpSpPr>
        <a:xfrm>
          <a:off x="0" y="0"/>
          <a:ext cx="0" cy="0"/>
          <a:chOff x="0" y="0"/>
          <a:chExt cx="0" cy="0"/>
        </a:xfrm>
      </p:grpSpPr>
      <p:sp>
        <p:nvSpPr>
          <p:cNvPr id="5" name="Titel 2">
            <a:extLst>
              <a:ext uri="{FF2B5EF4-FFF2-40B4-BE49-F238E27FC236}">
                <a16:creationId xmlns:a16="http://schemas.microsoft.com/office/drawing/2014/main" id="{3619B5A1-7812-5E1F-DE80-3EF148C7FBC6}"/>
              </a:ext>
            </a:extLst>
          </p:cNvPr>
          <p:cNvSpPr txBox="1">
            <a:spLocks/>
          </p:cNvSpPr>
          <p:nvPr/>
        </p:nvSpPr>
        <p:spPr>
          <a:xfrm>
            <a:off x="319091" y="411510"/>
            <a:ext cx="8508999" cy="3777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rPr>
              <a:t>DORIS</a:t>
            </a:r>
          </a:p>
        </p:txBody>
      </p:sp>
      <p:sp>
        <p:nvSpPr>
          <p:cNvPr id="7" name="Titel 2">
            <a:extLst>
              <a:ext uri="{FF2B5EF4-FFF2-40B4-BE49-F238E27FC236}">
                <a16:creationId xmlns:a16="http://schemas.microsoft.com/office/drawing/2014/main" id="{21C4695A-ADA7-B793-4028-2615EA240D5D}"/>
              </a:ext>
            </a:extLst>
          </p:cNvPr>
          <p:cNvSpPr txBox="1">
            <a:spLocks/>
          </p:cNvSpPr>
          <p:nvPr/>
        </p:nvSpPr>
        <p:spPr>
          <a:xfrm>
            <a:off x="297008" y="3435846"/>
            <a:ext cx="8508999" cy="82073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1800" dirty="0">
              <a:latin typeface="Arial" panose="020B0604020202020204" pitchFamily="34" charset="0"/>
              <a:cs typeface="Arial" panose="020B0604020202020204" pitchFamily="34" charset="0"/>
            </a:endParaRPr>
          </a:p>
        </p:txBody>
      </p:sp>
      <p:sp>
        <p:nvSpPr>
          <p:cNvPr id="3" name="Textfeld 2">
            <a:extLst>
              <a:ext uri="{FF2B5EF4-FFF2-40B4-BE49-F238E27FC236}">
                <a16:creationId xmlns:a16="http://schemas.microsoft.com/office/drawing/2014/main" id="{24426DAF-24F0-C394-23FD-2D72B31A411F}"/>
              </a:ext>
            </a:extLst>
          </p:cNvPr>
          <p:cNvSpPr txBox="1"/>
          <p:nvPr/>
        </p:nvSpPr>
        <p:spPr>
          <a:xfrm>
            <a:off x="313200" y="987574"/>
            <a:ext cx="8280920" cy="369332"/>
          </a:xfrm>
          <a:prstGeom prst="rect">
            <a:avLst/>
          </a:prstGeom>
          <a:noFill/>
        </p:spPr>
        <p:txBody>
          <a:bodyPr wrap="square">
            <a:spAutoFit/>
          </a:bodyPr>
          <a:lstStyle/>
          <a:p>
            <a:r>
              <a:rPr lang="en-US" dirty="0"/>
              <a:t>Doppler </a:t>
            </a:r>
            <a:r>
              <a:rPr lang="en-US" dirty="0" err="1"/>
              <a:t>Orbitography</a:t>
            </a:r>
            <a:r>
              <a:rPr lang="en-US" dirty="0"/>
              <a:t> and </a:t>
            </a:r>
            <a:r>
              <a:rPr lang="en-US" dirty="0" err="1"/>
              <a:t>Radiopositioning</a:t>
            </a:r>
            <a:r>
              <a:rPr lang="en-US" dirty="0"/>
              <a:t> Integrated by Satellite</a:t>
            </a:r>
            <a:endParaRPr lang="de-DE" dirty="0"/>
          </a:p>
        </p:txBody>
      </p:sp>
      <p:pic>
        <p:nvPicPr>
          <p:cNvPr id="11" name="Grafik 10">
            <a:extLst>
              <a:ext uri="{FF2B5EF4-FFF2-40B4-BE49-F238E27FC236}">
                <a16:creationId xmlns:a16="http://schemas.microsoft.com/office/drawing/2014/main" id="{1E69E92C-278F-BDD7-8C4C-C92AE3F05408}"/>
              </a:ext>
            </a:extLst>
          </p:cNvPr>
          <p:cNvPicPr>
            <a:picLocks noChangeAspect="1"/>
          </p:cNvPicPr>
          <p:nvPr/>
        </p:nvPicPr>
        <p:blipFill>
          <a:blip r:embed="rId3"/>
          <a:stretch>
            <a:fillRect/>
          </a:stretch>
        </p:blipFill>
        <p:spPr>
          <a:xfrm>
            <a:off x="5348374" y="1557263"/>
            <a:ext cx="3429033" cy="3030711"/>
          </a:xfrm>
          <a:prstGeom prst="rect">
            <a:avLst/>
          </a:prstGeom>
        </p:spPr>
      </p:pic>
      <p:sp>
        <p:nvSpPr>
          <p:cNvPr id="13" name="文本框 12">
            <a:extLst>
              <a:ext uri="{FF2B5EF4-FFF2-40B4-BE49-F238E27FC236}">
                <a16:creationId xmlns:a16="http://schemas.microsoft.com/office/drawing/2014/main" id="{7314C7D2-FBAB-2E0D-317A-387A688D9265}"/>
              </a:ext>
            </a:extLst>
          </p:cNvPr>
          <p:cNvSpPr txBox="1"/>
          <p:nvPr/>
        </p:nvSpPr>
        <p:spPr>
          <a:xfrm>
            <a:off x="313200" y="1988664"/>
            <a:ext cx="4968552" cy="2095254"/>
          </a:xfrm>
          <a:prstGeom prst="rect">
            <a:avLst/>
          </a:prstGeom>
          <a:noFill/>
        </p:spPr>
        <p:txBody>
          <a:bodyPr wrap="square">
            <a:spAutoFit/>
          </a:bodyPr>
          <a:lstStyle/>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Designed for precise orbit determination of altimeter satellites</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One-way signals transmitted by a global network of ground beacons</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DORIS receivers on board all altimetry missions</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Two frequencies (2 GHz &amp; 400 MHz) for ionospheric correction</a:t>
            </a:r>
          </a:p>
        </p:txBody>
      </p:sp>
    </p:spTree>
    <p:extLst>
      <p:ext uri="{BB962C8B-B14F-4D97-AF65-F5344CB8AC3E}">
        <p14:creationId xmlns:p14="http://schemas.microsoft.com/office/powerpoint/2010/main" val="1746709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F10AA-5203-8459-62B5-39AD4A5884AD}"/>
            </a:ext>
          </a:extLst>
        </p:cNvPr>
        <p:cNvGrpSpPr/>
        <p:nvPr/>
      </p:nvGrpSpPr>
      <p:grpSpPr>
        <a:xfrm>
          <a:off x="0" y="0"/>
          <a:ext cx="0" cy="0"/>
          <a:chOff x="0" y="0"/>
          <a:chExt cx="0" cy="0"/>
        </a:xfrm>
      </p:grpSpPr>
      <p:sp>
        <p:nvSpPr>
          <p:cNvPr id="5" name="Titel 2">
            <a:extLst>
              <a:ext uri="{FF2B5EF4-FFF2-40B4-BE49-F238E27FC236}">
                <a16:creationId xmlns:a16="http://schemas.microsoft.com/office/drawing/2014/main" id="{DCB3D7DF-60EB-D22D-6397-CDE1D339EBAB}"/>
              </a:ext>
            </a:extLst>
          </p:cNvPr>
          <p:cNvSpPr txBox="1">
            <a:spLocks/>
          </p:cNvSpPr>
          <p:nvPr/>
        </p:nvSpPr>
        <p:spPr>
          <a:xfrm>
            <a:off x="319091" y="411510"/>
            <a:ext cx="8508999" cy="3777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rPr>
              <a:t>DORIS Vertical Total Electron Content (VTEC)</a:t>
            </a:r>
          </a:p>
        </p:txBody>
      </p:sp>
      <p:sp>
        <p:nvSpPr>
          <p:cNvPr id="7" name="Titel 2">
            <a:extLst>
              <a:ext uri="{FF2B5EF4-FFF2-40B4-BE49-F238E27FC236}">
                <a16:creationId xmlns:a16="http://schemas.microsoft.com/office/drawing/2014/main" id="{E7806499-A37F-B603-0716-1E4251857E33}"/>
              </a:ext>
            </a:extLst>
          </p:cNvPr>
          <p:cNvSpPr txBox="1">
            <a:spLocks/>
          </p:cNvSpPr>
          <p:nvPr/>
        </p:nvSpPr>
        <p:spPr>
          <a:xfrm>
            <a:off x="306052" y="3447652"/>
            <a:ext cx="8508999" cy="82073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1800" dirty="0">
              <a:latin typeface="Arial" panose="020B0604020202020204" pitchFamily="34" charset="0"/>
              <a:cs typeface="Arial" panose="020B0604020202020204" pitchFamily="34" charset="0"/>
            </a:endParaRPr>
          </a:p>
        </p:txBody>
      </p:sp>
      <p:sp>
        <p:nvSpPr>
          <p:cNvPr id="24" name="文本框 23">
            <a:extLst>
              <a:ext uri="{FF2B5EF4-FFF2-40B4-BE49-F238E27FC236}">
                <a16:creationId xmlns:a16="http://schemas.microsoft.com/office/drawing/2014/main" id="{8FA96405-75DA-7041-F663-F957D67F9A2B}"/>
              </a:ext>
            </a:extLst>
          </p:cNvPr>
          <p:cNvSpPr txBox="1"/>
          <p:nvPr/>
        </p:nvSpPr>
        <p:spPr>
          <a:xfrm>
            <a:off x="313200" y="987574"/>
            <a:ext cx="6660000" cy="658963"/>
          </a:xfrm>
          <a:prstGeom prst="rect">
            <a:avLst/>
          </a:prstGeom>
          <a:noFill/>
        </p:spPr>
        <p:txBody>
          <a:bodyPr wrap="square">
            <a:spAutoFit/>
          </a:bodyPr>
          <a:lstStyle/>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DORIS RINEX files contain code and phase observations at two frequencies</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Code data are highly noisy (km-level): not usable</a:t>
            </a:r>
          </a:p>
        </p:txBody>
      </p:sp>
      <p:sp>
        <p:nvSpPr>
          <p:cNvPr id="25" name="文本框 24">
            <a:extLst>
              <a:ext uri="{FF2B5EF4-FFF2-40B4-BE49-F238E27FC236}">
                <a16:creationId xmlns:a16="http://schemas.microsoft.com/office/drawing/2014/main" id="{9C8C60C0-532E-AD29-D52A-E9ED82FF1852}"/>
              </a:ext>
            </a:extLst>
          </p:cNvPr>
          <p:cNvSpPr txBox="1"/>
          <p:nvPr/>
        </p:nvSpPr>
        <p:spPr>
          <a:xfrm>
            <a:off x="313200" y="2352673"/>
            <a:ext cx="4906872" cy="1505348"/>
          </a:xfrm>
          <a:prstGeom prst="rect">
            <a:avLst/>
          </a:prstGeom>
          <a:noFill/>
        </p:spPr>
        <p:txBody>
          <a:bodyPr wrap="square">
            <a:spAutoFit/>
          </a:bodyPr>
          <a:lstStyle/>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Phase data can be used for ionospheric information (similar to GNSS)</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Absolute level missing without code: taken from GIM</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Result: </a:t>
            </a:r>
            <a:r>
              <a:rPr lang="en-US" altLang="zh-CN" sz="1400" dirty="0">
                <a:latin typeface="Arial" panose="020B0604020202020204" pitchFamily="34" charset="0"/>
                <a:cs typeface="Arial" panose="020B0604020202020204" pitchFamily="34" charset="0"/>
                <a:hlinkClick r:id="rId3" action="ppaction://hlinksldjump"/>
              </a:rPr>
              <a:t>slant delay → STEC </a:t>
            </a:r>
            <a:r>
              <a:rPr lang="en-US" altLang="zh-CN" sz="1400" dirty="0">
                <a:latin typeface="Arial" panose="020B0604020202020204" pitchFamily="34" charset="0"/>
                <a:cs typeface="Arial" panose="020B0604020202020204" pitchFamily="34" charset="0"/>
                <a:hlinkClick r:id="rId4" action="ppaction://hlinksldjump"/>
              </a:rPr>
              <a:t>→ mapped to VTEC </a:t>
            </a:r>
            <a:r>
              <a:rPr lang="en-US" altLang="zh-CN" sz="1400" dirty="0">
                <a:latin typeface="Arial" panose="020B0604020202020204" pitchFamily="34" charset="0"/>
                <a:cs typeface="Arial" panose="020B0604020202020204" pitchFamily="34" charset="0"/>
              </a:rPr>
              <a:t>at DORIS observation points</a:t>
            </a:r>
          </a:p>
        </p:txBody>
      </p: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81F51BF5-D0F7-4B89-9CAB-23929D721311}"/>
                  </a:ext>
                </a:extLst>
              </p:cNvPr>
              <p:cNvSpPr txBox="1"/>
              <p:nvPr/>
            </p:nvSpPr>
            <p:spPr>
              <a:xfrm>
                <a:off x="4560552" y="2211710"/>
                <a:ext cx="4572000" cy="6493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latin typeface="Cambria Math" panose="02040503050406030204" pitchFamily="18" charset="0"/>
                            </a:rPr>
                          </m:ctrlPr>
                        </m:sSubPr>
                        <m:e>
                          <m:r>
                            <a:rPr lang="zh-CN" altLang="en-US" sz="1600" i="1">
                              <a:latin typeface="Cambria Math" panose="02040503050406030204" pitchFamily="18" charset="0"/>
                            </a:rPr>
                            <m:t>𝑑</m:t>
                          </m:r>
                        </m:e>
                        <m:sub>
                          <m:r>
                            <a:rPr lang="zh-CN" altLang="en-US" sz="1600" i="1">
                              <a:latin typeface="Cambria Math" panose="02040503050406030204" pitchFamily="18" charset="0"/>
                            </a:rPr>
                            <m:t>𝑖𝑜𝑛</m:t>
                          </m:r>
                        </m:sub>
                      </m:sSub>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1</m:t>
                              </m:r>
                            </m:sub>
                            <m:sup>
                              <m:r>
                                <a:rPr lang="zh-CN" altLang="en-US" sz="1600" i="0">
                                  <a:latin typeface="Cambria Math" panose="02040503050406030204" pitchFamily="18" charset="0"/>
                                </a:rPr>
                                <m:t>2</m:t>
                              </m:r>
                            </m:sup>
                          </m:sSubSup>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2</m:t>
                              </m:r>
                            </m:sub>
                            <m:sup>
                              <m:r>
                                <a:rPr lang="zh-CN" altLang="en-US" sz="1600" i="0">
                                  <a:latin typeface="Cambria Math" panose="02040503050406030204" pitchFamily="18" charset="0"/>
                                </a:rPr>
                                <m:t>2</m:t>
                              </m:r>
                            </m:sup>
                          </m:sSubSup>
                        </m:num>
                        <m:den>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1</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2</m:t>
                              </m:r>
                            </m:sub>
                            <m:sup>
                              <m:r>
                                <a:rPr lang="zh-CN" altLang="en-US" sz="1600" i="0">
                                  <a:latin typeface="Cambria Math" panose="02040503050406030204" pitchFamily="18" charset="0"/>
                                </a:rPr>
                                <m:t>2</m:t>
                              </m:r>
                            </m:sup>
                          </m:sSubSup>
                        </m:den>
                      </m:f>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𝜆</m:t>
                              </m:r>
                            </m:e>
                            <m:sub>
                              <m:r>
                                <a:rPr lang="zh-CN" altLang="en-US" sz="1600" i="0">
                                  <a:latin typeface="Cambria Math" panose="02040503050406030204" pitchFamily="18" charset="0"/>
                                </a:rPr>
                                <m:t>1</m:t>
                              </m:r>
                            </m:sub>
                          </m:sSub>
                          <m:sSubSup>
                            <m:sSubSupPr>
                              <m:ctrlPr>
                                <a:rPr lang="zh-CN" altLang="en-US" sz="1600" i="1">
                                  <a:latin typeface="Cambria Math" panose="02040503050406030204" pitchFamily="18" charset="0"/>
                                </a:rPr>
                              </m:ctrlPr>
                            </m:sSubSupPr>
                            <m:e>
                              <m:r>
                                <m:rPr>
                                  <m:sty m:val="p"/>
                                </m:rPr>
                                <a:rPr lang="zh-CN" altLang="en-US" sz="1600" i="0">
                                  <a:latin typeface="Cambria Math" panose="02040503050406030204" pitchFamily="18" charset="0"/>
                                </a:rPr>
                                <m:t>Φ</m:t>
                              </m:r>
                            </m:e>
                            <m:sub>
                              <m:r>
                                <a:rPr lang="zh-CN" altLang="en-US" sz="1600" i="1">
                                  <a:latin typeface="Cambria Math" panose="02040503050406030204" pitchFamily="18" charset="0"/>
                                </a:rPr>
                                <m:t>𝑡</m:t>
                              </m:r>
                              <m:r>
                                <a:rPr lang="zh-CN" altLang="en-US" sz="1600" i="0">
                                  <a:latin typeface="Cambria Math" panose="02040503050406030204" pitchFamily="18" charset="0"/>
                                </a:rPr>
                                <m:t>,1</m:t>
                              </m:r>
                            </m:sub>
                            <m:sup>
                              <m:r>
                                <a:rPr lang="zh-CN" altLang="en-US" sz="1600" i="1">
                                  <a:latin typeface="Cambria Math" panose="02040503050406030204" pitchFamily="18" charset="0"/>
                                </a:rPr>
                                <m:t>𝑟</m:t>
                              </m:r>
                            </m:sup>
                          </m:sSubSup>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𝜆</m:t>
                              </m:r>
                            </m:e>
                            <m:sub>
                              <m:r>
                                <a:rPr lang="zh-CN" altLang="en-US" sz="1600" i="0">
                                  <a:latin typeface="Cambria Math" panose="02040503050406030204" pitchFamily="18" charset="0"/>
                                </a:rPr>
                                <m:t>2</m:t>
                              </m:r>
                            </m:sub>
                          </m:sSub>
                          <m:sSubSup>
                            <m:sSubSupPr>
                              <m:ctrlPr>
                                <a:rPr lang="zh-CN" altLang="en-US" sz="1600" i="1">
                                  <a:latin typeface="Cambria Math" panose="02040503050406030204" pitchFamily="18" charset="0"/>
                                </a:rPr>
                              </m:ctrlPr>
                            </m:sSubSupPr>
                            <m:e>
                              <m:r>
                                <m:rPr>
                                  <m:sty m:val="p"/>
                                </m:rPr>
                                <a:rPr lang="zh-CN" altLang="en-US" sz="1600" i="0">
                                  <a:latin typeface="Cambria Math" panose="02040503050406030204" pitchFamily="18" charset="0"/>
                                </a:rPr>
                                <m:t>Φ</m:t>
                              </m:r>
                            </m:e>
                            <m:sub>
                              <m:r>
                                <a:rPr lang="zh-CN" altLang="en-US" sz="1600" i="1">
                                  <a:latin typeface="Cambria Math" panose="02040503050406030204" pitchFamily="18" charset="0"/>
                                </a:rPr>
                                <m:t>𝑡</m:t>
                              </m:r>
                              <m:r>
                                <a:rPr lang="zh-CN" altLang="en-US" sz="1600" i="0">
                                  <a:latin typeface="Cambria Math" panose="02040503050406030204" pitchFamily="18" charset="0"/>
                                </a:rPr>
                                <m:t>,2</m:t>
                              </m:r>
                            </m:sub>
                            <m:sup>
                              <m:r>
                                <a:rPr lang="zh-CN" altLang="en-US" sz="1600" i="1">
                                  <a:latin typeface="Cambria Math" panose="02040503050406030204" pitchFamily="18" charset="0"/>
                                </a:rPr>
                                <m:t>𝑟</m:t>
                              </m:r>
                            </m:sup>
                          </m:sSubSup>
                        </m:e>
                      </m:d>
                    </m:oMath>
                  </m:oMathPara>
                </a14:m>
                <a:endParaRPr lang="zh-CN" altLang="en-US" sz="1600" dirty="0"/>
              </a:p>
            </p:txBody>
          </p:sp>
        </mc:Choice>
        <mc:Fallback xmlns="">
          <p:sp>
            <p:nvSpPr>
              <p:cNvPr id="30" name="文本框 29">
                <a:extLst>
                  <a:ext uri="{FF2B5EF4-FFF2-40B4-BE49-F238E27FC236}">
                    <a16:creationId xmlns:a16="http://schemas.microsoft.com/office/drawing/2014/main" id="{81F51BF5-D0F7-4B89-9CAB-23929D721311}"/>
                  </a:ext>
                </a:extLst>
              </p:cNvPr>
              <p:cNvSpPr txBox="1">
                <a:spLocks noRot="1" noChangeAspect="1" noMove="1" noResize="1" noEditPoints="1" noAdjustHandles="1" noChangeArrowheads="1" noChangeShapeType="1" noTextEdit="1"/>
              </p:cNvSpPr>
              <p:nvPr/>
            </p:nvSpPr>
            <p:spPr>
              <a:xfrm>
                <a:off x="4560552" y="2211710"/>
                <a:ext cx="4572000" cy="64934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83070089-1F13-B50D-653C-E962D8A641F1}"/>
                  </a:ext>
                </a:extLst>
              </p:cNvPr>
              <p:cNvSpPr txBox="1"/>
              <p:nvPr/>
            </p:nvSpPr>
            <p:spPr>
              <a:xfrm>
                <a:off x="3995936" y="2861055"/>
                <a:ext cx="4572000" cy="6118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latin typeface="Cambria Math" panose="02040503050406030204" pitchFamily="18" charset="0"/>
                            </a:rPr>
                          </m:ctrlPr>
                        </m:sSubPr>
                        <m:e>
                          <m:r>
                            <a:rPr lang="zh-CN" altLang="en-US" sz="1600" i="1">
                              <a:latin typeface="Cambria Math" panose="02040503050406030204" pitchFamily="18" charset="0"/>
                            </a:rPr>
                            <m:t>𝑑</m:t>
                          </m:r>
                        </m:e>
                        <m:sub>
                          <m:r>
                            <a:rPr lang="zh-CN" altLang="en-US" sz="1600" i="1">
                              <a:latin typeface="Cambria Math" panose="02040503050406030204" pitchFamily="18" charset="0"/>
                            </a:rPr>
                            <m:t>𝑖𝑜𝑛</m:t>
                          </m:r>
                        </m:sub>
                      </m:sSub>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0">
                              <a:latin typeface="Cambria Math" panose="02040503050406030204" pitchFamily="18" charset="0"/>
                            </a:rPr>
                            <m:t>40.3</m:t>
                          </m:r>
                        </m:num>
                        <m:den>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𝑓</m:t>
                              </m:r>
                            </m:e>
                            <m:sup>
                              <m:r>
                                <a:rPr lang="zh-CN" altLang="en-US" sz="1600" i="0">
                                  <a:latin typeface="Cambria Math" panose="02040503050406030204" pitchFamily="18" charset="0"/>
                                </a:rPr>
                                <m:t>2</m:t>
                              </m:r>
                            </m:sup>
                          </m:sSup>
                        </m:den>
                      </m:f>
                      <m:r>
                        <a:rPr lang="zh-CN" altLang="en-US" sz="1600" i="1">
                          <a:latin typeface="Cambria Math" panose="02040503050406030204" pitchFamily="18" charset="0"/>
                        </a:rPr>
                        <m:t>𝑆𝑇𝐸𝐶</m:t>
                      </m:r>
                    </m:oMath>
                  </m:oMathPara>
                </a14:m>
                <a:endParaRPr lang="zh-CN" altLang="en-US" sz="1600" dirty="0"/>
              </a:p>
            </p:txBody>
          </p:sp>
        </mc:Choice>
        <mc:Fallback xmlns="">
          <p:sp>
            <p:nvSpPr>
              <p:cNvPr id="32" name="文本框 31">
                <a:extLst>
                  <a:ext uri="{FF2B5EF4-FFF2-40B4-BE49-F238E27FC236}">
                    <a16:creationId xmlns:a16="http://schemas.microsoft.com/office/drawing/2014/main" id="{83070089-1F13-B50D-653C-E962D8A641F1}"/>
                  </a:ext>
                </a:extLst>
              </p:cNvPr>
              <p:cNvSpPr txBox="1">
                <a:spLocks noRot="1" noChangeAspect="1" noMove="1" noResize="1" noEditPoints="1" noAdjustHandles="1" noChangeArrowheads="1" noChangeShapeType="1" noTextEdit="1"/>
              </p:cNvSpPr>
              <p:nvPr/>
            </p:nvSpPr>
            <p:spPr>
              <a:xfrm>
                <a:off x="3995936" y="2861055"/>
                <a:ext cx="4572000" cy="61183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6F983A1D-FE15-DDB9-C778-912E45AEA9D6}"/>
                  </a:ext>
                </a:extLst>
              </p:cNvPr>
              <p:cNvSpPr txBox="1"/>
              <p:nvPr/>
            </p:nvSpPr>
            <p:spPr>
              <a:xfrm>
                <a:off x="4067944" y="3551728"/>
                <a:ext cx="4650698" cy="3806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600" i="1" smtClean="0">
                          <a:latin typeface="Cambria Math" panose="02040503050406030204" pitchFamily="18" charset="0"/>
                        </a:rPr>
                        <m:t>𝑉𝑇𝐸𝐶</m:t>
                      </m:r>
                      <m:r>
                        <a:rPr lang="zh-CN" altLang="en-US" sz="1600" i="0">
                          <a:latin typeface="Cambria Math" panose="02040503050406030204" pitchFamily="18" charset="0"/>
                        </a:rPr>
                        <m:t>=</m:t>
                      </m:r>
                      <m:r>
                        <a:rPr lang="zh-CN" altLang="en-US" sz="1600" i="1">
                          <a:latin typeface="Cambria Math" panose="02040503050406030204" pitchFamily="18" charset="0"/>
                        </a:rPr>
                        <m:t>𝑚</m:t>
                      </m:r>
                      <m:d>
                        <m:dPr>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𝑧</m:t>
                          </m:r>
                          <m:sSup>
                            <m:sSupPr>
                              <m:ctrlPr>
                                <a:rPr lang="zh-CN" altLang="en-US" sz="1600" i="1">
                                  <a:latin typeface="Cambria Math" panose="02040503050406030204" pitchFamily="18" charset="0"/>
                                </a:rPr>
                              </m:ctrlPr>
                            </m:sSupPr>
                            <m:e>
                              <m:d>
                                <m:dPr>
                                  <m:begChr m:val=""/>
                                  <m:endChr m:val=""/>
                                  <m:ctrlPr>
                                    <a:rPr lang="zh-CN" altLang="en-US" sz="1600" i="1">
                                      <a:latin typeface="Cambria Math" panose="02040503050406030204" pitchFamily="18" charset="0"/>
                                    </a:rPr>
                                  </m:ctrlPr>
                                </m:dPr>
                                <m:e>
                                  <m:r>
                                    <a:rPr lang="zh-CN" altLang="en-US" sz="1600" i="0">
                                      <a:latin typeface="Cambria Math" panose="02040503050406030204" pitchFamily="18" charset="0"/>
                                    </a:rPr>
                                    <m:t>)</m:t>
                                  </m:r>
                                </m:e>
                              </m:d>
                            </m:e>
                            <m:sup>
                              <m:r>
                                <a:rPr lang="zh-CN" altLang="en-US" sz="1600" i="0">
                                  <a:latin typeface="Cambria Math" panose="02040503050406030204" pitchFamily="18" charset="0"/>
                                </a:rPr>
                                <m:t>−1</m:t>
                              </m:r>
                            </m:sup>
                          </m:sSup>
                          <m:r>
                            <a:rPr lang="zh-CN" altLang="en-US" sz="1600" i="1">
                              <a:latin typeface="Cambria Math" panose="02040503050406030204" pitchFamily="18" charset="0"/>
                            </a:rPr>
                            <m:t>𝑆𝑇𝐸𝐶</m:t>
                          </m:r>
                        </m:e>
                      </m:d>
                    </m:oMath>
                  </m:oMathPara>
                </a14:m>
                <a:endParaRPr lang="zh-CN" altLang="en-US" dirty="0"/>
              </a:p>
            </p:txBody>
          </p:sp>
        </mc:Choice>
        <mc:Fallback xmlns="">
          <p:sp>
            <p:nvSpPr>
              <p:cNvPr id="34" name="文本框 33">
                <a:extLst>
                  <a:ext uri="{FF2B5EF4-FFF2-40B4-BE49-F238E27FC236}">
                    <a16:creationId xmlns:a16="http://schemas.microsoft.com/office/drawing/2014/main" id="{6F983A1D-FE15-DDB9-C778-912E45AEA9D6}"/>
                  </a:ext>
                </a:extLst>
              </p:cNvPr>
              <p:cNvSpPr txBox="1">
                <a:spLocks noRot="1" noChangeAspect="1" noMove="1" noResize="1" noEditPoints="1" noAdjustHandles="1" noChangeArrowheads="1" noChangeShapeType="1" noTextEdit="1"/>
              </p:cNvSpPr>
              <p:nvPr/>
            </p:nvSpPr>
            <p:spPr>
              <a:xfrm>
                <a:off x="4067944" y="3551728"/>
                <a:ext cx="4650698" cy="380617"/>
              </a:xfrm>
              <a:prstGeom prst="rect">
                <a:avLst/>
              </a:prstGeom>
              <a:blipFill>
                <a:blip r:embed="rId8"/>
                <a:stretch>
                  <a:fillRect t="-138710" b="-21451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25130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447DE-DD0C-8AAF-D9FB-23AE7BB9A5CA}"/>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950BB510-DC90-0BCD-89E0-D67545C02559}"/>
              </a:ext>
            </a:extLst>
          </p:cNvPr>
          <p:cNvPicPr>
            <a:picLocks noChangeAspect="1"/>
          </p:cNvPicPr>
          <p:nvPr/>
        </p:nvPicPr>
        <p:blipFill>
          <a:blip r:embed="rId3"/>
          <a:stretch>
            <a:fillRect/>
          </a:stretch>
        </p:blipFill>
        <p:spPr>
          <a:xfrm>
            <a:off x="285750" y="1563638"/>
            <a:ext cx="5306226" cy="3183736"/>
          </a:xfrm>
          <a:prstGeom prst="rect">
            <a:avLst/>
          </a:prstGeom>
        </p:spPr>
      </p:pic>
      <p:sp>
        <p:nvSpPr>
          <p:cNvPr id="12" name="文本框 11">
            <a:extLst>
              <a:ext uri="{FF2B5EF4-FFF2-40B4-BE49-F238E27FC236}">
                <a16:creationId xmlns:a16="http://schemas.microsoft.com/office/drawing/2014/main" id="{6876E532-63C2-E748-7BC2-4755DDED8D6B}"/>
              </a:ext>
            </a:extLst>
          </p:cNvPr>
          <p:cNvSpPr txBox="1"/>
          <p:nvPr/>
        </p:nvSpPr>
        <p:spPr>
          <a:xfrm>
            <a:off x="5537780" y="2743171"/>
            <a:ext cx="3024336" cy="1249060"/>
          </a:xfrm>
          <a:prstGeom prst="rect">
            <a:avLst/>
          </a:prstGeom>
          <a:noFill/>
        </p:spPr>
        <p:txBody>
          <a:bodyPr wrap="square" rtlCol="0">
            <a:spAutoFit/>
          </a:bodyPr>
          <a:lstStyle/>
          <a:p>
            <a:pPr>
              <a:spcAft>
                <a:spcPts val="450"/>
              </a:spcAft>
            </a:pPr>
            <a:r>
              <a:rPr lang="en-US" altLang="zh-CN" sz="1400" dirty="0"/>
              <a:t>Height scaling is necessary: different orbit heights of GNSS and LEO satellites have to be taken into account!</a:t>
            </a:r>
          </a:p>
          <a:p>
            <a:pPr>
              <a:spcAft>
                <a:spcPts val="450"/>
              </a:spcAft>
            </a:pPr>
            <a:endParaRPr lang="zh-CN" altLang="en-US" sz="1500" dirty="0"/>
          </a:p>
        </p:txBody>
      </p:sp>
      <p:sp>
        <p:nvSpPr>
          <p:cNvPr id="4" name="Titel 2">
            <a:extLst>
              <a:ext uri="{FF2B5EF4-FFF2-40B4-BE49-F238E27FC236}">
                <a16:creationId xmlns:a16="http://schemas.microsoft.com/office/drawing/2014/main" id="{880F0474-1D09-A908-2D17-101087A2DAA4}"/>
              </a:ext>
            </a:extLst>
          </p:cNvPr>
          <p:cNvSpPr txBox="1">
            <a:spLocks/>
          </p:cNvSpPr>
          <p:nvPr/>
        </p:nvSpPr>
        <p:spPr>
          <a:xfrm>
            <a:off x="319091" y="411510"/>
            <a:ext cx="8508999" cy="3777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hlinkClick r:id="rId4" action="ppaction://hlinksldjump"/>
              </a:rPr>
              <a:t>DORIS STEC Leveling</a:t>
            </a:r>
            <a:endParaRPr lang="en-US" dirty="0">
              <a:solidFill>
                <a:sysClr val="windowText" lastClr="000000"/>
              </a:solidFill>
              <a:latin typeface="Arial"/>
            </a:endParaRPr>
          </a:p>
        </p:txBody>
      </p:sp>
      <p:sp>
        <p:nvSpPr>
          <p:cNvPr id="8" name="文本框 11">
            <a:extLst>
              <a:ext uri="{FF2B5EF4-FFF2-40B4-BE49-F238E27FC236}">
                <a16:creationId xmlns:a16="http://schemas.microsoft.com/office/drawing/2014/main" id="{06296B81-3B9D-4508-7D09-2ACF9F1EE647}"/>
              </a:ext>
            </a:extLst>
          </p:cNvPr>
          <p:cNvSpPr txBox="1"/>
          <p:nvPr/>
        </p:nvSpPr>
        <p:spPr>
          <a:xfrm>
            <a:off x="313200" y="986400"/>
            <a:ext cx="8069333" cy="943848"/>
          </a:xfrm>
          <a:prstGeom prst="rect">
            <a:avLst/>
          </a:prstGeom>
          <a:noFill/>
        </p:spPr>
        <p:txBody>
          <a:bodyPr wrap="square" rtlCol="0">
            <a:spAutoFit/>
          </a:bodyPr>
          <a:lstStyle/>
          <a:p>
            <a:pPr>
              <a:spcAft>
                <a:spcPts val="450"/>
              </a:spcAft>
            </a:pPr>
            <a:r>
              <a:rPr lang="en-US" altLang="zh-CN" sz="1600" dirty="0"/>
              <a:t>DORIS only provides relative information due to unreliable code information</a:t>
            </a:r>
          </a:p>
          <a:p>
            <a:pPr>
              <a:spcAft>
                <a:spcPts val="450"/>
              </a:spcAft>
            </a:pPr>
            <a:r>
              <a:rPr lang="en-US" altLang="zh-CN" sz="1600" dirty="0"/>
              <a:t>Unknown phase ambiguities will be derived from GNSS GIM maps</a:t>
            </a:r>
          </a:p>
          <a:p>
            <a:pPr>
              <a:spcAft>
                <a:spcPts val="450"/>
              </a:spcAft>
            </a:pPr>
            <a:endParaRPr lang="zh-CN" altLang="en-US" sz="1500" dirty="0"/>
          </a:p>
        </p:txBody>
      </p:sp>
    </p:spTree>
    <p:extLst>
      <p:ext uri="{BB962C8B-B14F-4D97-AF65-F5344CB8AC3E}">
        <p14:creationId xmlns:p14="http://schemas.microsoft.com/office/powerpoint/2010/main" val="373303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70196-0CD9-3B14-DC5F-7E3A57E29BAB}"/>
            </a:ext>
          </a:extLst>
        </p:cNvPr>
        <p:cNvGrpSpPr/>
        <p:nvPr/>
      </p:nvGrpSpPr>
      <p:grpSpPr>
        <a:xfrm>
          <a:off x="0" y="0"/>
          <a:ext cx="0" cy="0"/>
          <a:chOff x="0" y="0"/>
          <a:chExt cx="0" cy="0"/>
        </a:xfrm>
      </p:grpSpPr>
      <p:pic>
        <p:nvPicPr>
          <p:cNvPr id="10" name="397D15F8">
            <a:hlinkClick r:id="" action="ppaction://media"/>
            <a:extLst>
              <a:ext uri="{FF2B5EF4-FFF2-40B4-BE49-F238E27FC236}">
                <a16:creationId xmlns:a16="http://schemas.microsoft.com/office/drawing/2014/main" id="{726C85A0-2E75-6DA0-91F1-D9E9FC1921DF}"/>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66626" y="1421409"/>
            <a:ext cx="5029902" cy="3353268"/>
          </a:xfrm>
          <a:prstGeom prst="rect">
            <a:avLst/>
          </a:prstGeom>
        </p:spPr>
      </p:pic>
      <p:sp>
        <p:nvSpPr>
          <p:cNvPr id="2" name="Titel 2">
            <a:extLst>
              <a:ext uri="{FF2B5EF4-FFF2-40B4-BE49-F238E27FC236}">
                <a16:creationId xmlns:a16="http://schemas.microsoft.com/office/drawing/2014/main" id="{E0BB28E1-840F-7650-CE0C-5D4D95EE132E}"/>
              </a:ext>
            </a:extLst>
          </p:cNvPr>
          <p:cNvSpPr txBox="1">
            <a:spLocks/>
          </p:cNvSpPr>
          <p:nvPr/>
        </p:nvSpPr>
        <p:spPr>
          <a:xfrm>
            <a:off x="319091" y="411510"/>
            <a:ext cx="8508999" cy="3777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rPr>
              <a:t>DORIS VTEC Selection and Interpolation</a:t>
            </a:r>
          </a:p>
        </p:txBody>
      </p:sp>
      <p:sp>
        <p:nvSpPr>
          <p:cNvPr id="7" name="文本框 6">
            <a:extLst>
              <a:ext uri="{FF2B5EF4-FFF2-40B4-BE49-F238E27FC236}">
                <a16:creationId xmlns:a16="http://schemas.microsoft.com/office/drawing/2014/main" id="{4F38B536-81DC-2874-3674-2C4DDDD15DD6}"/>
              </a:ext>
            </a:extLst>
          </p:cNvPr>
          <p:cNvSpPr txBox="1"/>
          <p:nvPr/>
        </p:nvSpPr>
        <p:spPr>
          <a:xfrm>
            <a:off x="313200" y="987574"/>
            <a:ext cx="6660000" cy="582019"/>
          </a:xfrm>
          <a:prstGeom prst="rect">
            <a:avLst/>
          </a:prstGeom>
          <a:noFill/>
        </p:spPr>
        <p:txBody>
          <a:bodyPr wrap="square">
            <a:spAutoFit/>
          </a:bodyPr>
          <a:lstStyle/>
          <a:p>
            <a:pPr marL="457200" indent="-457200">
              <a:lnSpc>
                <a:spcPts val="2000"/>
              </a:lnSpc>
              <a:spcAft>
                <a:spcPts val="12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DORIS VTEC observation points must be selected and interpolated onto the altimetry observation points </a:t>
            </a:r>
          </a:p>
        </p:txBody>
      </p:sp>
      <p:sp>
        <p:nvSpPr>
          <p:cNvPr id="8" name="文本框 7">
            <a:extLst>
              <a:ext uri="{FF2B5EF4-FFF2-40B4-BE49-F238E27FC236}">
                <a16:creationId xmlns:a16="http://schemas.microsoft.com/office/drawing/2014/main" id="{320632EB-EE7E-6B22-12A4-D441A7F75ECD}"/>
              </a:ext>
            </a:extLst>
          </p:cNvPr>
          <p:cNvSpPr txBox="1"/>
          <p:nvPr/>
        </p:nvSpPr>
        <p:spPr>
          <a:xfrm>
            <a:off x="5496528" y="2217128"/>
            <a:ext cx="3647472" cy="1761829"/>
          </a:xfrm>
          <a:prstGeom prst="rect">
            <a:avLst/>
          </a:prstGeom>
          <a:noFill/>
        </p:spPr>
        <p:txBody>
          <a:bodyPr wrap="square">
            <a:spAutoFit/>
          </a:bodyPr>
          <a:lstStyle/>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Selection based on spatial proximity to the altimetry IPP</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Interpolation performed using weighted averaging</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Approach tested in Master’s Thesis (Zhang, 2024)</a:t>
            </a:r>
          </a:p>
        </p:txBody>
      </p:sp>
    </p:spTree>
    <p:extLst>
      <p:ext uri="{BB962C8B-B14F-4D97-AF65-F5344CB8AC3E}">
        <p14:creationId xmlns:p14="http://schemas.microsoft.com/office/powerpoint/2010/main" val="2176250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300"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70196-0CD9-3B14-DC5F-7E3A57E29BAB}"/>
            </a:ext>
          </a:extLst>
        </p:cNvPr>
        <p:cNvGrpSpPr/>
        <p:nvPr/>
      </p:nvGrpSpPr>
      <p:grpSpPr>
        <a:xfrm>
          <a:off x="0" y="0"/>
          <a:ext cx="0" cy="0"/>
          <a:chOff x="0" y="0"/>
          <a:chExt cx="0" cy="0"/>
        </a:xfrm>
      </p:grpSpPr>
      <p:pic>
        <p:nvPicPr>
          <p:cNvPr id="10" name="图片 9">
            <a:extLst>
              <a:ext uri="{FF2B5EF4-FFF2-40B4-BE49-F238E27FC236}">
                <a16:creationId xmlns:a16="http://schemas.microsoft.com/office/drawing/2014/main" id="{8D2D5D14-C3EF-E022-4EBE-3DFEF916DE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7626" y="1787616"/>
            <a:ext cx="5888748" cy="2944374"/>
          </a:xfrm>
          <a:prstGeom prst="rect">
            <a:avLst/>
          </a:prstGeom>
        </p:spPr>
      </p:pic>
      <p:sp>
        <p:nvSpPr>
          <p:cNvPr id="4" name="Titel 2">
            <a:extLst>
              <a:ext uri="{FF2B5EF4-FFF2-40B4-BE49-F238E27FC236}">
                <a16:creationId xmlns:a16="http://schemas.microsoft.com/office/drawing/2014/main" id="{6FF8271E-A4B5-5442-AE48-E8BAAB9585EA}"/>
              </a:ext>
            </a:extLst>
          </p:cNvPr>
          <p:cNvSpPr txBox="1">
            <a:spLocks/>
          </p:cNvSpPr>
          <p:nvPr/>
        </p:nvSpPr>
        <p:spPr>
          <a:xfrm>
            <a:off x="319091" y="411510"/>
            <a:ext cx="8508999" cy="3777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rPr>
              <a:t>DORIS-based Altimetry VTEC in Global Region</a:t>
            </a:r>
          </a:p>
        </p:txBody>
      </p:sp>
      <p:pic>
        <p:nvPicPr>
          <p:cNvPr id="12" name="图片 11">
            <a:extLst>
              <a:ext uri="{FF2B5EF4-FFF2-40B4-BE49-F238E27FC236}">
                <a16:creationId xmlns:a16="http://schemas.microsoft.com/office/drawing/2014/main" id="{16075763-4537-E210-57A6-8356A01321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27200" y="1789200"/>
            <a:ext cx="5888748" cy="2944374"/>
          </a:xfrm>
          <a:prstGeom prst="rect">
            <a:avLst/>
          </a:prstGeom>
        </p:spPr>
      </p:pic>
      <p:pic>
        <p:nvPicPr>
          <p:cNvPr id="14" name="图片 13">
            <a:extLst>
              <a:ext uri="{FF2B5EF4-FFF2-40B4-BE49-F238E27FC236}">
                <a16:creationId xmlns:a16="http://schemas.microsoft.com/office/drawing/2014/main" id="{094EAAFB-723B-1C68-0B90-B644C10006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27200" y="1789200"/>
            <a:ext cx="5888748" cy="2944374"/>
          </a:xfrm>
          <a:prstGeom prst="rect">
            <a:avLst/>
          </a:prstGeom>
        </p:spPr>
      </p:pic>
      <p:sp>
        <p:nvSpPr>
          <p:cNvPr id="5" name="文本框 4">
            <a:extLst>
              <a:ext uri="{FF2B5EF4-FFF2-40B4-BE49-F238E27FC236}">
                <a16:creationId xmlns:a16="http://schemas.microsoft.com/office/drawing/2014/main" id="{5A378BC2-C4EA-F098-5033-C4D88AF747CF}"/>
              </a:ext>
            </a:extLst>
          </p:cNvPr>
          <p:cNvSpPr txBox="1"/>
          <p:nvPr/>
        </p:nvSpPr>
        <p:spPr>
          <a:xfrm>
            <a:off x="313200" y="987574"/>
            <a:ext cx="6660000" cy="658963"/>
          </a:xfrm>
          <a:prstGeom prst="rect">
            <a:avLst/>
          </a:prstGeom>
          <a:noFill/>
        </p:spPr>
        <p:txBody>
          <a:bodyPr wrap="square">
            <a:spAutoFit/>
          </a:bodyPr>
          <a:lstStyle/>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Daily DORIS-based VTEC along Jason-3 ground track</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Blank regions without DORIS results in Pacific</a:t>
            </a:r>
          </a:p>
        </p:txBody>
      </p:sp>
    </p:spTree>
    <p:extLst>
      <p:ext uri="{BB962C8B-B14F-4D97-AF65-F5344CB8AC3E}">
        <p14:creationId xmlns:p14="http://schemas.microsoft.com/office/powerpoint/2010/main" val="2938743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97897-3DC4-A7ED-4182-F63B70D79A6B}"/>
            </a:ext>
          </a:extLst>
        </p:cNvPr>
        <p:cNvGrpSpPr/>
        <p:nvPr/>
      </p:nvGrpSpPr>
      <p:grpSpPr>
        <a:xfrm>
          <a:off x="0" y="0"/>
          <a:ext cx="0" cy="0"/>
          <a:chOff x="0" y="0"/>
          <a:chExt cx="0" cy="0"/>
        </a:xfrm>
      </p:grpSpPr>
      <p:sp>
        <p:nvSpPr>
          <p:cNvPr id="4" name="Titel 2">
            <a:extLst>
              <a:ext uri="{FF2B5EF4-FFF2-40B4-BE49-F238E27FC236}">
                <a16:creationId xmlns:a16="http://schemas.microsoft.com/office/drawing/2014/main" id="{D71A9BC2-793B-143E-DCDD-F7672700E309}"/>
              </a:ext>
            </a:extLst>
          </p:cNvPr>
          <p:cNvSpPr txBox="1">
            <a:spLocks/>
          </p:cNvSpPr>
          <p:nvPr/>
        </p:nvSpPr>
        <p:spPr>
          <a:xfrm>
            <a:off x="319091" y="411510"/>
            <a:ext cx="8508999" cy="3777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rPr>
              <a:t>DORIS-based Altimetry VTEC in Global Region</a:t>
            </a:r>
          </a:p>
        </p:txBody>
      </p:sp>
      <p:pic>
        <p:nvPicPr>
          <p:cNvPr id="16" name="图片 15">
            <a:extLst>
              <a:ext uri="{FF2B5EF4-FFF2-40B4-BE49-F238E27FC236}">
                <a16:creationId xmlns:a16="http://schemas.microsoft.com/office/drawing/2014/main" id="{BEDA7641-6A0D-7041-4BC3-2CA7C7D002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7200" y="1789200"/>
            <a:ext cx="5888748" cy="2944374"/>
          </a:xfrm>
          <a:prstGeom prst="rect">
            <a:avLst/>
          </a:prstGeom>
        </p:spPr>
      </p:pic>
      <p:sp>
        <p:nvSpPr>
          <p:cNvPr id="5" name="文本框 4">
            <a:extLst>
              <a:ext uri="{FF2B5EF4-FFF2-40B4-BE49-F238E27FC236}">
                <a16:creationId xmlns:a16="http://schemas.microsoft.com/office/drawing/2014/main" id="{BE4FBEED-2513-8CBA-F6DF-5E7502150C58}"/>
              </a:ext>
            </a:extLst>
          </p:cNvPr>
          <p:cNvSpPr txBox="1"/>
          <p:nvPr/>
        </p:nvSpPr>
        <p:spPr>
          <a:xfrm>
            <a:off x="313200" y="987574"/>
            <a:ext cx="6660000" cy="658963"/>
          </a:xfrm>
          <a:prstGeom prst="rect">
            <a:avLst/>
          </a:prstGeom>
          <a:noFill/>
        </p:spPr>
        <p:txBody>
          <a:bodyPr wrap="square">
            <a:spAutoFit/>
          </a:bodyPr>
          <a:lstStyle/>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Daily DORIS-based VTEC along Jason-3 ground track</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Blank regions without DORIS results in Pacific</a:t>
            </a:r>
          </a:p>
        </p:txBody>
      </p:sp>
    </p:spTree>
    <p:extLst>
      <p:ext uri="{BB962C8B-B14F-4D97-AF65-F5344CB8AC3E}">
        <p14:creationId xmlns:p14="http://schemas.microsoft.com/office/powerpoint/2010/main" val="1045510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B126F-4D72-E59E-BC61-0065BB8890FA}"/>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AE5C2209-5C5B-04B5-F459-772DFF221932}"/>
              </a:ext>
            </a:extLst>
          </p:cNvPr>
          <p:cNvPicPr>
            <a:picLocks noChangeAspect="1"/>
          </p:cNvPicPr>
          <p:nvPr/>
        </p:nvPicPr>
        <p:blipFill>
          <a:blip r:embed="rId3"/>
          <a:stretch>
            <a:fillRect/>
          </a:stretch>
        </p:blipFill>
        <p:spPr>
          <a:xfrm>
            <a:off x="1627200" y="1789200"/>
            <a:ext cx="5888748" cy="2944374"/>
          </a:xfrm>
          <a:prstGeom prst="rect">
            <a:avLst/>
          </a:prstGeom>
        </p:spPr>
      </p:pic>
      <p:sp>
        <p:nvSpPr>
          <p:cNvPr id="4" name="Titel 2">
            <a:extLst>
              <a:ext uri="{FF2B5EF4-FFF2-40B4-BE49-F238E27FC236}">
                <a16:creationId xmlns:a16="http://schemas.microsoft.com/office/drawing/2014/main" id="{12167454-F5F1-621A-A09D-77D4F1CA627E}"/>
              </a:ext>
            </a:extLst>
          </p:cNvPr>
          <p:cNvSpPr txBox="1">
            <a:spLocks/>
          </p:cNvSpPr>
          <p:nvPr/>
        </p:nvSpPr>
        <p:spPr>
          <a:xfrm>
            <a:off x="319091" y="411510"/>
            <a:ext cx="8508999" cy="3777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rPr>
              <a:t>DORIS-based Altimetry VTEC in Global Region</a:t>
            </a:r>
          </a:p>
        </p:txBody>
      </p:sp>
      <p:sp>
        <p:nvSpPr>
          <p:cNvPr id="5" name="文本框 4">
            <a:extLst>
              <a:ext uri="{FF2B5EF4-FFF2-40B4-BE49-F238E27FC236}">
                <a16:creationId xmlns:a16="http://schemas.microsoft.com/office/drawing/2014/main" id="{B95D5627-1EA2-326D-D223-9022DA461BD0}"/>
              </a:ext>
            </a:extLst>
          </p:cNvPr>
          <p:cNvSpPr txBox="1"/>
          <p:nvPr/>
        </p:nvSpPr>
        <p:spPr>
          <a:xfrm>
            <a:off x="313200" y="987574"/>
            <a:ext cx="6707072" cy="992388"/>
          </a:xfrm>
          <a:prstGeom prst="rect">
            <a:avLst/>
          </a:prstGeom>
          <a:noFill/>
        </p:spPr>
        <p:txBody>
          <a:bodyPr wrap="square">
            <a:spAutoFit/>
          </a:bodyPr>
          <a:lstStyle/>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Daily DORIS-based VTEC along Jason-3 ground track</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Demonstration takes mean VTEC values for each geolocation</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Blank regions: decreased from 2020 to 2024</a:t>
            </a:r>
          </a:p>
        </p:txBody>
      </p:sp>
    </p:spTree>
    <p:extLst>
      <p:ext uri="{BB962C8B-B14F-4D97-AF65-F5344CB8AC3E}">
        <p14:creationId xmlns:p14="http://schemas.microsoft.com/office/powerpoint/2010/main" val="121214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7FC0C-2166-3644-2DAC-F571B8E0AD61}"/>
            </a:ext>
          </a:extLst>
        </p:cNvPr>
        <p:cNvGrpSpPr/>
        <p:nvPr/>
      </p:nvGrpSpPr>
      <p:grpSpPr>
        <a:xfrm>
          <a:off x="0" y="0"/>
          <a:ext cx="0" cy="0"/>
          <a:chOff x="0" y="0"/>
          <a:chExt cx="0" cy="0"/>
        </a:xfrm>
      </p:grpSpPr>
      <p:sp>
        <p:nvSpPr>
          <p:cNvPr id="4" name="Titel 2">
            <a:extLst>
              <a:ext uri="{FF2B5EF4-FFF2-40B4-BE49-F238E27FC236}">
                <a16:creationId xmlns:a16="http://schemas.microsoft.com/office/drawing/2014/main" id="{5DD2AB26-7843-F5D9-E8DA-58879EFB452F}"/>
              </a:ext>
            </a:extLst>
          </p:cNvPr>
          <p:cNvSpPr txBox="1">
            <a:spLocks/>
          </p:cNvSpPr>
          <p:nvPr/>
        </p:nvSpPr>
        <p:spPr>
          <a:xfrm>
            <a:off x="319091" y="411510"/>
            <a:ext cx="8508999" cy="3777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rPr>
              <a:t>Comparison with Altimetry VTEC</a:t>
            </a:r>
          </a:p>
        </p:txBody>
      </p:sp>
      <p:sp>
        <p:nvSpPr>
          <p:cNvPr id="5" name="文本框 4">
            <a:extLst>
              <a:ext uri="{FF2B5EF4-FFF2-40B4-BE49-F238E27FC236}">
                <a16:creationId xmlns:a16="http://schemas.microsoft.com/office/drawing/2014/main" id="{11A7D161-BDD9-19CB-6FD4-9F91D057AB22}"/>
              </a:ext>
            </a:extLst>
          </p:cNvPr>
          <p:cNvSpPr txBox="1"/>
          <p:nvPr/>
        </p:nvSpPr>
        <p:spPr>
          <a:xfrm>
            <a:off x="313200" y="987574"/>
            <a:ext cx="7643176" cy="992388"/>
          </a:xfrm>
          <a:prstGeom prst="rect">
            <a:avLst/>
          </a:prstGeom>
          <a:noFill/>
        </p:spPr>
        <p:txBody>
          <a:bodyPr wrap="square">
            <a:spAutoFit/>
          </a:bodyPr>
          <a:lstStyle/>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DORIS-based vs. GIM-based altimetry VTEC in 2024 (ground truth: Jason-3 altimetry)</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DORIS: high RMS near blank regions, clusters of peaks (especially equator)</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Better performance near DORIS stations (</a:t>
            </a:r>
            <a:r>
              <a:rPr lang="en-US" altLang="zh-CN" sz="1400" dirty="0">
                <a:latin typeface="Arial" panose="020B0604020202020204" pitchFamily="34" charset="0"/>
                <a:cs typeface="Arial" panose="020B0604020202020204" pitchFamily="34" charset="0"/>
                <a:hlinkClick r:id="rId3" action="ppaction://hlinksldjump"/>
              </a:rPr>
              <a:t>backup slide</a:t>
            </a:r>
            <a:r>
              <a:rPr lang="en-US" altLang="zh-CN" sz="1400" dirty="0">
                <a:latin typeface="Arial" panose="020B0604020202020204" pitchFamily="34" charset="0"/>
                <a:cs typeface="Arial" panose="020B0604020202020204" pitchFamily="34" charset="0"/>
              </a:rPr>
              <a:t>)</a:t>
            </a:r>
          </a:p>
        </p:txBody>
      </p:sp>
      <p:pic>
        <p:nvPicPr>
          <p:cNvPr id="9" name="图片 8">
            <a:extLst>
              <a:ext uri="{FF2B5EF4-FFF2-40B4-BE49-F238E27FC236}">
                <a16:creationId xmlns:a16="http://schemas.microsoft.com/office/drawing/2014/main" id="{6273718A-12C6-8FDF-25F4-747FB5EF827C}"/>
              </a:ext>
            </a:extLst>
          </p:cNvPr>
          <p:cNvPicPr>
            <a:picLocks noChangeAspect="1"/>
          </p:cNvPicPr>
          <p:nvPr/>
        </p:nvPicPr>
        <p:blipFill>
          <a:blip r:embed="rId4"/>
          <a:srcRect t="27996" b="23010"/>
          <a:stretch>
            <a:fillRect/>
          </a:stretch>
        </p:blipFill>
        <p:spPr>
          <a:xfrm>
            <a:off x="0" y="2052000"/>
            <a:ext cx="9144000" cy="2520000"/>
          </a:xfrm>
          <a:prstGeom prst="rect">
            <a:avLst/>
          </a:prstGeom>
        </p:spPr>
      </p:pic>
    </p:spTree>
    <p:extLst>
      <p:ext uri="{BB962C8B-B14F-4D97-AF65-F5344CB8AC3E}">
        <p14:creationId xmlns:p14="http://schemas.microsoft.com/office/powerpoint/2010/main" val="4188977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02984-34A6-2833-AF5F-A682A9B32264}"/>
            </a:ext>
          </a:extLst>
        </p:cNvPr>
        <p:cNvGrpSpPr/>
        <p:nvPr/>
      </p:nvGrpSpPr>
      <p:grpSpPr>
        <a:xfrm>
          <a:off x="0" y="0"/>
          <a:ext cx="0" cy="0"/>
          <a:chOff x="0" y="0"/>
          <a:chExt cx="0" cy="0"/>
        </a:xfrm>
      </p:grpSpPr>
      <p:pic>
        <p:nvPicPr>
          <p:cNvPr id="10" name="图片 9">
            <a:extLst>
              <a:ext uri="{FF2B5EF4-FFF2-40B4-BE49-F238E27FC236}">
                <a16:creationId xmlns:a16="http://schemas.microsoft.com/office/drawing/2014/main" id="{95EDEFDA-A55E-9D70-D248-9894B702F149}"/>
              </a:ext>
            </a:extLst>
          </p:cNvPr>
          <p:cNvPicPr>
            <a:picLocks noChangeAspect="1"/>
          </p:cNvPicPr>
          <p:nvPr/>
        </p:nvPicPr>
        <p:blipFill>
          <a:blip r:embed="rId3"/>
          <a:stretch>
            <a:fillRect/>
          </a:stretch>
        </p:blipFill>
        <p:spPr>
          <a:xfrm>
            <a:off x="1627200" y="1789200"/>
            <a:ext cx="5888748" cy="2944374"/>
          </a:xfrm>
          <a:prstGeom prst="rect">
            <a:avLst/>
          </a:prstGeom>
        </p:spPr>
      </p:pic>
      <p:sp>
        <p:nvSpPr>
          <p:cNvPr id="4" name="Titel 2">
            <a:extLst>
              <a:ext uri="{FF2B5EF4-FFF2-40B4-BE49-F238E27FC236}">
                <a16:creationId xmlns:a16="http://schemas.microsoft.com/office/drawing/2014/main" id="{0BBE82DD-83B5-FA0E-128F-9D9E9E3B9582}"/>
              </a:ext>
            </a:extLst>
          </p:cNvPr>
          <p:cNvSpPr txBox="1">
            <a:spLocks/>
          </p:cNvSpPr>
          <p:nvPr/>
        </p:nvSpPr>
        <p:spPr>
          <a:xfrm>
            <a:off x="319091" y="411510"/>
            <a:ext cx="8508999" cy="3777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rPr>
              <a:t>Comparison with Altimetry VTEC</a:t>
            </a:r>
          </a:p>
        </p:txBody>
      </p:sp>
      <p:sp>
        <p:nvSpPr>
          <p:cNvPr id="5" name="文本框 4">
            <a:extLst>
              <a:ext uri="{FF2B5EF4-FFF2-40B4-BE49-F238E27FC236}">
                <a16:creationId xmlns:a16="http://schemas.microsoft.com/office/drawing/2014/main" id="{8A32BB02-8FD3-5ABB-0697-0B21F782D8CD}"/>
              </a:ext>
            </a:extLst>
          </p:cNvPr>
          <p:cNvSpPr txBox="1"/>
          <p:nvPr/>
        </p:nvSpPr>
        <p:spPr>
          <a:xfrm>
            <a:off x="313200" y="987574"/>
            <a:ext cx="6779080" cy="992388"/>
          </a:xfrm>
          <a:prstGeom prst="rect">
            <a:avLst/>
          </a:prstGeom>
          <a:noFill/>
        </p:spPr>
        <p:txBody>
          <a:bodyPr wrap="square">
            <a:spAutoFit/>
          </a:bodyPr>
          <a:lstStyle/>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DORIS-based vs. GIM-based altimetry VTEC (ground truth: Jason-3 altimetry)</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DORIS: high RMS near blank regions, clusters of peaks (especially equator)</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Better performance near DORIS stations (</a:t>
            </a:r>
            <a:r>
              <a:rPr lang="en-US" altLang="zh-CN" sz="1400" dirty="0">
                <a:latin typeface="Arial" panose="020B0604020202020204" pitchFamily="34" charset="0"/>
                <a:cs typeface="Arial" panose="020B0604020202020204" pitchFamily="34" charset="0"/>
                <a:hlinkClick r:id="rId4" action="ppaction://hlinksldjump"/>
              </a:rPr>
              <a:t>backup slide</a:t>
            </a:r>
            <a:r>
              <a:rPr lang="en-US" altLang="zh-CN" sz="1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805379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70196-0CD9-3B14-DC5F-7E3A57E29BAB}"/>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6FFA4FA3-4678-BE9E-0E7B-446CB43B8277}"/>
              </a:ext>
            </a:extLst>
          </p:cNvPr>
          <p:cNvPicPr>
            <a:picLocks noChangeAspect="1"/>
          </p:cNvPicPr>
          <p:nvPr/>
        </p:nvPicPr>
        <p:blipFill>
          <a:blip r:embed="rId3"/>
          <a:stretch>
            <a:fillRect/>
          </a:stretch>
        </p:blipFill>
        <p:spPr>
          <a:xfrm>
            <a:off x="1180800" y="1418400"/>
            <a:ext cx="6784861" cy="3392431"/>
          </a:xfrm>
          <a:prstGeom prst="rect">
            <a:avLst/>
          </a:prstGeom>
        </p:spPr>
      </p:pic>
      <p:sp>
        <p:nvSpPr>
          <p:cNvPr id="2" name="Titel 2">
            <a:extLst>
              <a:ext uri="{FF2B5EF4-FFF2-40B4-BE49-F238E27FC236}">
                <a16:creationId xmlns:a16="http://schemas.microsoft.com/office/drawing/2014/main" id="{A4F27215-A477-90C0-FD23-1E9282EF202D}"/>
              </a:ext>
            </a:extLst>
          </p:cNvPr>
          <p:cNvSpPr txBox="1">
            <a:spLocks/>
          </p:cNvSpPr>
          <p:nvPr/>
        </p:nvSpPr>
        <p:spPr>
          <a:xfrm>
            <a:off x="319091" y="411510"/>
            <a:ext cx="8508999" cy="3777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rPr>
              <a:t>DORIS-based Altimetry VTEC : Time Period</a:t>
            </a:r>
          </a:p>
        </p:txBody>
      </p:sp>
      <p:sp>
        <p:nvSpPr>
          <p:cNvPr id="4" name="文本框 3">
            <a:extLst>
              <a:ext uri="{FF2B5EF4-FFF2-40B4-BE49-F238E27FC236}">
                <a16:creationId xmlns:a16="http://schemas.microsoft.com/office/drawing/2014/main" id="{501A2905-7F56-F21A-F9F7-1383D7ABC6DF}"/>
              </a:ext>
            </a:extLst>
          </p:cNvPr>
          <p:cNvSpPr txBox="1"/>
          <p:nvPr/>
        </p:nvSpPr>
        <p:spPr>
          <a:xfrm>
            <a:off x="313200" y="987574"/>
            <a:ext cx="6660000" cy="658963"/>
          </a:xfrm>
          <a:prstGeom prst="rect">
            <a:avLst/>
          </a:prstGeom>
          <a:noFill/>
        </p:spPr>
        <p:txBody>
          <a:bodyPr wrap="square">
            <a:spAutoFit/>
          </a:bodyPr>
          <a:lstStyle/>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2019–2024: six years validation</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Quiet 2020 vs. Active 2024 (Ionospheric storm around</a:t>
            </a:r>
            <a:r>
              <a:rPr lang="en-US" altLang="zh-CN" sz="1400" dirty="0"/>
              <a:t> 10 May 2024</a:t>
            </a:r>
            <a:r>
              <a:rPr lang="en-US" altLang="zh-CN" sz="1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748449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C75FF-1DD8-4340-6800-F8D587693A04}"/>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1CBCE8DC-1A9B-1EC4-B085-EA008D82DC64}"/>
              </a:ext>
            </a:extLst>
          </p:cNvPr>
          <p:cNvPicPr>
            <a:picLocks noChangeAspect="1"/>
          </p:cNvPicPr>
          <p:nvPr/>
        </p:nvPicPr>
        <p:blipFill>
          <a:blip r:embed="rId3"/>
          <a:stretch>
            <a:fillRect/>
          </a:stretch>
        </p:blipFill>
        <p:spPr>
          <a:xfrm>
            <a:off x="1180801" y="1418401"/>
            <a:ext cx="6784861" cy="3392431"/>
          </a:xfrm>
          <a:prstGeom prst="rect">
            <a:avLst/>
          </a:prstGeom>
        </p:spPr>
      </p:pic>
      <p:sp>
        <p:nvSpPr>
          <p:cNvPr id="2" name="Titel 2">
            <a:extLst>
              <a:ext uri="{FF2B5EF4-FFF2-40B4-BE49-F238E27FC236}">
                <a16:creationId xmlns:a16="http://schemas.microsoft.com/office/drawing/2014/main" id="{63708D1B-9F20-03B8-F1C2-9445314CA0AD}"/>
              </a:ext>
            </a:extLst>
          </p:cNvPr>
          <p:cNvSpPr txBox="1">
            <a:spLocks/>
          </p:cNvSpPr>
          <p:nvPr/>
        </p:nvSpPr>
        <p:spPr>
          <a:xfrm>
            <a:off x="319091" y="411510"/>
            <a:ext cx="8508999" cy="3777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rPr>
              <a:t>DORIS-based Altimetry VTEC : Time Period</a:t>
            </a:r>
          </a:p>
        </p:txBody>
      </p:sp>
      <p:sp>
        <p:nvSpPr>
          <p:cNvPr id="4" name="文本框 3">
            <a:extLst>
              <a:ext uri="{FF2B5EF4-FFF2-40B4-BE49-F238E27FC236}">
                <a16:creationId xmlns:a16="http://schemas.microsoft.com/office/drawing/2014/main" id="{5B44398A-82BF-A388-81CA-8C65F56E988C}"/>
              </a:ext>
            </a:extLst>
          </p:cNvPr>
          <p:cNvSpPr txBox="1"/>
          <p:nvPr/>
        </p:nvSpPr>
        <p:spPr>
          <a:xfrm>
            <a:off x="313200" y="987574"/>
            <a:ext cx="6660000" cy="658963"/>
          </a:xfrm>
          <a:prstGeom prst="rect">
            <a:avLst/>
          </a:prstGeom>
          <a:noFill/>
        </p:spPr>
        <p:txBody>
          <a:bodyPr wrap="square">
            <a:spAutoFit/>
          </a:bodyPr>
          <a:lstStyle/>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2019–2024: six years validation</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Quiet 2020 vs. Active 2024 (Ionospheric storm around</a:t>
            </a:r>
            <a:r>
              <a:rPr lang="en-US" altLang="zh-CN" sz="1400" dirty="0"/>
              <a:t> 10 May 2024</a:t>
            </a:r>
            <a:r>
              <a:rPr lang="en-US" altLang="zh-CN" sz="1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611746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CED75-6E3D-958D-B485-EFBFBD5D915D}"/>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99E0100E-EF8A-B08B-B6BB-BBE0504AD168}"/>
              </a:ext>
            </a:extLst>
          </p:cNvPr>
          <p:cNvPicPr>
            <a:picLocks noChangeAspect="1"/>
          </p:cNvPicPr>
          <p:nvPr/>
        </p:nvPicPr>
        <p:blipFill>
          <a:blip r:embed="rId3"/>
          <a:stretch>
            <a:fillRect/>
          </a:stretch>
        </p:blipFill>
        <p:spPr>
          <a:xfrm>
            <a:off x="1692000" y="1933200"/>
            <a:ext cx="5760731" cy="2880366"/>
          </a:xfrm>
          <a:prstGeom prst="rect">
            <a:avLst/>
          </a:prstGeom>
        </p:spPr>
      </p:pic>
      <p:sp>
        <p:nvSpPr>
          <p:cNvPr id="4" name="Titel 2">
            <a:extLst>
              <a:ext uri="{FF2B5EF4-FFF2-40B4-BE49-F238E27FC236}">
                <a16:creationId xmlns:a16="http://schemas.microsoft.com/office/drawing/2014/main" id="{F60A654E-6A06-EE0B-3229-FCD99964E6B9}"/>
              </a:ext>
            </a:extLst>
          </p:cNvPr>
          <p:cNvSpPr txBox="1">
            <a:spLocks/>
          </p:cNvSpPr>
          <p:nvPr/>
        </p:nvSpPr>
        <p:spPr>
          <a:xfrm>
            <a:off x="319091" y="411510"/>
            <a:ext cx="8508999" cy="38735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rPr>
              <a:t>DORIS-based Altimetry VTEC Time Series</a:t>
            </a:r>
          </a:p>
        </p:txBody>
      </p:sp>
      <p:sp>
        <p:nvSpPr>
          <p:cNvPr id="6" name="文本框 5">
            <a:extLst>
              <a:ext uri="{FF2B5EF4-FFF2-40B4-BE49-F238E27FC236}">
                <a16:creationId xmlns:a16="http://schemas.microsoft.com/office/drawing/2014/main" id="{42FD9088-FBD1-DC2B-284E-5E63D5426F4B}"/>
              </a:ext>
            </a:extLst>
          </p:cNvPr>
          <p:cNvSpPr txBox="1"/>
          <p:nvPr/>
        </p:nvSpPr>
        <p:spPr>
          <a:xfrm>
            <a:off x="313200" y="987574"/>
            <a:ext cx="6779080" cy="992388"/>
          </a:xfrm>
          <a:prstGeom prst="rect">
            <a:avLst/>
          </a:prstGeom>
          <a:noFill/>
        </p:spPr>
        <p:txBody>
          <a:bodyPr wrap="square">
            <a:spAutoFit/>
          </a:bodyPr>
          <a:lstStyle/>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Analysis restricted to altimetry IPP within 1800 km of DORIS stations (~40%)</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2020 (quiet ionosphere): DORIS RMS better than GIM</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2024 (active ionosphere): similar performance between DORIS and GIM</a:t>
            </a:r>
          </a:p>
        </p:txBody>
      </p:sp>
    </p:spTree>
    <p:extLst>
      <p:ext uri="{BB962C8B-B14F-4D97-AF65-F5344CB8AC3E}">
        <p14:creationId xmlns:p14="http://schemas.microsoft.com/office/powerpoint/2010/main" val="18057812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D71DA-C004-7C03-4E96-10738427085A}"/>
            </a:ext>
          </a:extLst>
        </p:cNvPr>
        <p:cNvGrpSpPr/>
        <p:nvPr/>
      </p:nvGrpSpPr>
      <p:grpSpPr>
        <a:xfrm>
          <a:off x="0" y="0"/>
          <a:ext cx="0" cy="0"/>
          <a:chOff x="0" y="0"/>
          <a:chExt cx="0" cy="0"/>
        </a:xfrm>
      </p:grpSpPr>
      <p:sp>
        <p:nvSpPr>
          <p:cNvPr id="4" name="Titel 2">
            <a:extLst>
              <a:ext uri="{FF2B5EF4-FFF2-40B4-BE49-F238E27FC236}">
                <a16:creationId xmlns:a16="http://schemas.microsoft.com/office/drawing/2014/main" id="{F7543947-6783-DA80-61E0-933090DE87AB}"/>
              </a:ext>
            </a:extLst>
          </p:cNvPr>
          <p:cNvSpPr txBox="1">
            <a:spLocks/>
          </p:cNvSpPr>
          <p:nvPr/>
        </p:nvSpPr>
        <p:spPr>
          <a:xfrm>
            <a:off x="319091" y="411510"/>
            <a:ext cx="8508999" cy="38735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rPr>
              <a:t>DORIS-based Altimetry VTEC Time Series</a:t>
            </a:r>
          </a:p>
        </p:txBody>
      </p:sp>
      <p:sp>
        <p:nvSpPr>
          <p:cNvPr id="8" name="文本框 7">
            <a:extLst>
              <a:ext uri="{FF2B5EF4-FFF2-40B4-BE49-F238E27FC236}">
                <a16:creationId xmlns:a16="http://schemas.microsoft.com/office/drawing/2014/main" id="{98F0D9CE-21D1-E396-E1B2-9827735E6BA2}"/>
              </a:ext>
            </a:extLst>
          </p:cNvPr>
          <p:cNvSpPr txBox="1"/>
          <p:nvPr/>
        </p:nvSpPr>
        <p:spPr>
          <a:xfrm>
            <a:off x="313200" y="986400"/>
            <a:ext cx="6779080" cy="658963"/>
          </a:xfrm>
          <a:prstGeom prst="rect">
            <a:avLst/>
          </a:prstGeom>
          <a:noFill/>
        </p:spPr>
        <p:txBody>
          <a:bodyPr wrap="square">
            <a:spAutoFit/>
          </a:bodyPr>
          <a:lstStyle/>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Analysis restricted to altimetry IPP within 1800 km of DORIS stations (~40%)</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Six-year trend shows DORIS gradually “caught up” by GIM</a:t>
            </a:r>
          </a:p>
        </p:txBody>
      </p:sp>
      <p:pic>
        <p:nvPicPr>
          <p:cNvPr id="18" name="图片 17">
            <a:extLst>
              <a:ext uri="{FF2B5EF4-FFF2-40B4-BE49-F238E27FC236}">
                <a16:creationId xmlns:a16="http://schemas.microsoft.com/office/drawing/2014/main" id="{3B0F970E-F619-D62B-6728-EA67BBC13CAD}"/>
              </a:ext>
            </a:extLst>
          </p:cNvPr>
          <p:cNvPicPr>
            <a:picLocks noChangeAspect="1"/>
          </p:cNvPicPr>
          <p:nvPr/>
        </p:nvPicPr>
        <p:blipFill>
          <a:blip r:embed="rId3"/>
          <a:stretch>
            <a:fillRect/>
          </a:stretch>
        </p:blipFill>
        <p:spPr>
          <a:xfrm>
            <a:off x="1692000" y="1850400"/>
            <a:ext cx="5760731" cy="2880366"/>
          </a:xfrm>
          <a:prstGeom prst="rect">
            <a:avLst/>
          </a:prstGeom>
        </p:spPr>
      </p:pic>
    </p:spTree>
    <p:extLst>
      <p:ext uri="{BB962C8B-B14F-4D97-AF65-F5344CB8AC3E}">
        <p14:creationId xmlns:p14="http://schemas.microsoft.com/office/powerpoint/2010/main" val="2887186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36504-06A1-2CA3-F42B-73AF8800A2BB}"/>
            </a:ext>
          </a:extLst>
        </p:cNvPr>
        <p:cNvGrpSpPr/>
        <p:nvPr/>
      </p:nvGrpSpPr>
      <p:grpSpPr>
        <a:xfrm>
          <a:off x="0" y="0"/>
          <a:ext cx="0" cy="0"/>
          <a:chOff x="0" y="0"/>
          <a:chExt cx="0" cy="0"/>
        </a:xfrm>
      </p:grpSpPr>
      <p:sp>
        <p:nvSpPr>
          <p:cNvPr id="5" name="Titel 2">
            <a:extLst>
              <a:ext uri="{FF2B5EF4-FFF2-40B4-BE49-F238E27FC236}">
                <a16:creationId xmlns:a16="http://schemas.microsoft.com/office/drawing/2014/main" id="{90E65264-FC45-9D3D-DC69-004F82DED663}"/>
              </a:ext>
            </a:extLst>
          </p:cNvPr>
          <p:cNvSpPr txBox="1">
            <a:spLocks/>
          </p:cNvSpPr>
          <p:nvPr/>
        </p:nvSpPr>
        <p:spPr>
          <a:xfrm>
            <a:off x="319091" y="411510"/>
            <a:ext cx="8508999" cy="3777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rPr>
              <a:t>DORIS-based Altimetry VTEC </a:t>
            </a:r>
            <a:r>
              <a:rPr lang="en-US" altLang="zh-CN" dirty="0">
                <a:solidFill>
                  <a:sysClr val="windowText" lastClr="000000"/>
                </a:solidFill>
                <a:latin typeface="Arial"/>
              </a:rPr>
              <a:t>Series: Full Coverage</a:t>
            </a:r>
            <a:endParaRPr lang="en-US" dirty="0">
              <a:solidFill>
                <a:sysClr val="windowText" lastClr="000000"/>
              </a:solidFill>
              <a:latin typeface="Arial"/>
            </a:endParaRPr>
          </a:p>
        </p:txBody>
      </p:sp>
      <p:pic>
        <p:nvPicPr>
          <p:cNvPr id="15" name="图片 14">
            <a:extLst>
              <a:ext uri="{FF2B5EF4-FFF2-40B4-BE49-F238E27FC236}">
                <a16:creationId xmlns:a16="http://schemas.microsoft.com/office/drawing/2014/main" id="{A672676A-F383-8481-A73A-D866DB11ECE4}"/>
              </a:ext>
            </a:extLst>
          </p:cNvPr>
          <p:cNvPicPr>
            <a:picLocks noChangeAspect="1"/>
          </p:cNvPicPr>
          <p:nvPr/>
        </p:nvPicPr>
        <p:blipFill>
          <a:blip r:embed="rId3"/>
          <a:stretch>
            <a:fillRect/>
          </a:stretch>
        </p:blipFill>
        <p:spPr>
          <a:xfrm>
            <a:off x="1691634" y="1851670"/>
            <a:ext cx="5760731" cy="2880366"/>
          </a:xfrm>
          <a:prstGeom prst="rect">
            <a:avLst/>
          </a:prstGeom>
        </p:spPr>
      </p:pic>
      <p:sp>
        <p:nvSpPr>
          <p:cNvPr id="7" name="文本框 6">
            <a:extLst>
              <a:ext uri="{FF2B5EF4-FFF2-40B4-BE49-F238E27FC236}">
                <a16:creationId xmlns:a16="http://schemas.microsoft.com/office/drawing/2014/main" id="{6DE67ADF-7AF3-71CF-BA1A-BC8254DA8925}"/>
              </a:ext>
            </a:extLst>
          </p:cNvPr>
          <p:cNvSpPr txBox="1"/>
          <p:nvPr/>
        </p:nvSpPr>
        <p:spPr>
          <a:xfrm>
            <a:off x="313200" y="986400"/>
            <a:ext cx="6779080" cy="992388"/>
          </a:xfrm>
          <a:prstGeom prst="rect">
            <a:avLst/>
          </a:prstGeom>
          <a:noFill/>
        </p:spPr>
        <p:txBody>
          <a:bodyPr wrap="square">
            <a:spAutoFit/>
          </a:bodyPr>
          <a:lstStyle/>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Analysis extended to ~95% of global altimetry IPP</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DORIS not better than GIM</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Difference obvious during active ionospheric conditions in 2024</a:t>
            </a:r>
          </a:p>
        </p:txBody>
      </p:sp>
    </p:spTree>
    <p:extLst>
      <p:ext uri="{BB962C8B-B14F-4D97-AF65-F5344CB8AC3E}">
        <p14:creationId xmlns:p14="http://schemas.microsoft.com/office/powerpoint/2010/main" val="2505454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FE1E9-843C-AB05-6400-9BFF7866C16F}"/>
            </a:ext>
          </a:extLst>
        </p:cNvPr>
        <p:cNvGrpSpPr/>
        <p:nvPr/>
      </p:nvGrpSpPr>
      <p:grpSpPr>
        <a:xfrm>
          <a:off x="0" y="0"/>
          <a:ext cx="0" cy="0"/>
          <a:chOff x="0" y="0"/>
          <a:chExt cx="0" cy="0"/>
        </a:xfrm>
      </p:grpSpPr>
      <p:sp>
        <p:nvSpPr>
          <p:cNvPr id="5" name="Titel 2">
            <a:extLst>
              <a:ext uri="{FF2B5EF4-FFF2-40B4-BE49-F238E27FC236}">
                <a16:creationId xmlns:a16="http://schemas.microsoft.com/office/drawing/2014/main" id="{4DC7ABDC-C80D-408D-3E11-BA759006EC41}"/>
              </a:ext>
            </a:extLst>
          </p:cNvPr>
          <p:cNvSpPr txBox="1">
            <a:spLocks/>
          </p:cNvSpPr>
          <p:nvPr/>
        </p:nvSpPr>
        <p:spPr>
          <a:xfrm>
            <a:off x="319091" y="411510"/>
            <a:ext cx="8508999" cy="3777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rPr>
              <a:t>Conclusion</a:t>
            </a:r>
          </a:p>
        </p:txBody>
      </p:sp>
      <p:sp>
        <p:nvSpPr>
          <p:cNvPr id="6" name="文本框 5">
            <a:extLst>
              <a:ext uri="{FF2B5EF4-FFF2-40B4-BE49-F238E27FC236}">
                <a16:creationId xmlns:a16="http://schemas.microsoft.com/office/drawing/2014/main" id="{0612AA50-B03F-0BA1-16A9-89A672598F15}"/>
              </a:ext>
            </a:extLst>
          </p:cNvPr>
          <p:cNvSpPr txBox="1"/>
          <p:nvPr/>
        </p:nvSpPr>
        <p:spPr>
          <a:xfrm>
            <a:off x="313200" y="986400"/>
            <a:ext cx="7139120" cy="1015663"/>
          </a:xfrm>
          <a:prstGeom prst="rect">
            <a:avLst/>
          </a:prstGeom>
          <a:noFill/>
        </p:spPr>
        <p:txBody>
          <a:bodyPr wrap="square">
            <a:spAutoFit/>
          </a:bodyPr>
          <a:lstStyle/>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DORIS provides reliable ionospheric corrections for satellite altimetry</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Correction quality strongly depends on ionospheric activity and station distribution</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Outperforms GIM </a:t>
            </a:r>
            <a:r>
              <a:rPr lang="en-US" altLang="zh-CN" sz="1400">
                <a:latin typeface="Arial" panose="020B0604020202020204" pitchFamily="34" charset="0"/>
                <a:cs typeface="Arial" panose="020B0604020202020204" pitchFamily="34" charset="0"/>
              </a:rPr>
              <a:t>locally when </a:t>
            </a:r>
            <a:r>
              <a:rPr lang="en-US" altLang="zh-CN" sz="1400" dirty="0">
                <a:latin typeface="Arial" panose="020B0604020202020204" pitchFamily="34" charset="0"/>
                <a:cs typeface="Arial" panose="020B0604020202020204" pitchFamily="34" charset="0"/>
              </a:rPr>
              <a:t>data (near station) is sufficient</a:t>
            </a:r>
          </a:p>
        </p:txBody>
      </p:sp>
      <p:sp>
        <p:nvSpPr>
          <p:cNvPr id="7" name="文本框 6">
            <a:extLst>
              <a:ext uri="{FF2B5EF4-FFF2-40B4-BE49-F238E27FC236}">
                <a16:creationId xmlns:a16="http://schemas.microsoft.com/office/drawing/2014/main" id="{CFB950DB-A7AE-E468-1A02-A41F5B5E8341}"/>
              </a:ext>
            </a:extLst>
          </p:cNvPr>
          <p:cNvSpPr txBox="1"/>
          <p:nvPr/>
        </p:nvSpPr>
        <p:spPr>
          <a:xfrm>
            <a:off x="313200" y="2571750"/>
            <a:ext cx="7139120" cy="1248868"/>
          </a:xfrm>
          <a:prstGeom prst="rect">
            <a:avLst/>
          </a:prstGeom>
          <a:noFill/>
        </p:spPr>
        <p:txBody>
          <a:bodyPr wrap="square">
            <a:spAutoFit/>
          </a:bodyPr>
          <a:lstStyle/>
          <a:p>
            <a:pPr marL="457200" indent="-457200">
              <a:lnSpc>
                <a:spcPts val="2000"/>
              </a:lnSpc>
              <a:spcAft>
                <a:spcPts val="600"/>
              </a:spcAft>
              <a:buFont typeface="Wingdings" panose="05000000000000000000" pitchFamily="2" charset="2"/>
              <a:buChar char="Ø"/>
            </a:pPr>
            <a:r>
              <a:rPr lang="en-US" altLang="zh-CN" sz="1400" dirty="0">
                <a:latin typeface="Arial" panose="020B0604020202020204" pitchFamily="34" charset="0"/>
                <a:cs typeface="Arial" panose="020B0604020202020204" pitchFamily="34" charset="0"/>
              </a:rPr>
              <a:t>DORIS can improve the accuracy of ionospheric corrections for satellite altimetry</a:t>
            </a:r>
          </a:p>
          <a:p>
            <a:pPr marL="457200" indent="-457200">
              <a:lnSpc>
                <a:spcPts val="2000"/>
              </a:lnSpc>
              <a:spcAft>
                <a:spcPts val="600"/>
              </a:spcAft>
              <a:buFont typeface="Wingdings" panose="05000000000000000000" pitchFamily="2" charset="2"/>
              <a:buChar char="Ø"/>
            </a:pPr>
            <a:r>
              <a:rPr lang="en-US" altLang="zh-CN" sz="1400" dirty="0">
                <a:latin typeface="Arial" panose="020B0604020202020204" pitchFamily="34" charset="0"/>
                <a:cs typeface="Arial" panose="020B0604020202020204" pitchFamily="34" charset="0"/>
              </a:rPr>
              <a:t>However: stand-alone DORIS corrections are not recommended</a:t>
            </a:r>
          </a:p>
          <a:p>
            <a:pPr marL="457200" indent="-457200">
              <a:lnSpc>
                <a:spcPts val="2000"/>
              </a:lnSpc>
              <a:spcAft>
                <a:spcPts val="600"/>
              </a:spcAft>
              <a:buFont typeface="Wingdings" panose="05000000000000000000" pitchFamily="2" charset="2"/>
              <a:buChar char="Ø"/>
            </a:pPr>
            <a:r>
              <a:rPr lang="en-US" altLang="zh-CN" sz="1400" dirty="0">
                <a:latin typeface="Arial" panose="020B0604020202020204" pitchFamily="34" charset="0"/>
                <a:cs typeface="Arial" panose="020B0604020202020204" pitchFamily="34" charset="0"/>
              </a:rPr>
              <a:t>Combination with GNSS observations or GIM is recommended (and will be worked on soon)</a:t>
            </a:r>
          </a:p>
        </p:txBody>
      </p:sp>
    </p:spTree>
    <p:extLst>
      <p:ext uri="{BB962C8B-B14F-4D97-AF65-F5344CB8AC3E}">
        <p14:creationId xmlns:p14="http://schemas.microsoft.com/office/powerpoint/2010/main" val="36364370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2">
            <a:extLst>
              <a:ext uri="{FF2B5EF4-FFF2-40B4-BE49-F238E27FC236}">
                <a16:creationId xmlns:a16="http://schemas.microsoft.com/office/drawing/2014/main" id="{DD030316-E476-8A46-9502-0FC62EA05A03}"/>
              </a:ext>
            </a:extLst>
          </p:cNvPr>
          <p:cNvSpPr txBox="1">
            <a:spLocks/>
          </p:cNvSpPr>
          <p:nvPr/>
        </p:nvSpPr>
        <p:spPr>
          <a:xfrm>
            <a:off x="395536" y="2067694"/>
            <a:ext cx="8508999" cy="3777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rPr>
              <a:t>Backup Slides</a:t>
            </a:r>
          </a:p>
        </p:txBody>
      </p:sp>
    </p:spTree>
    <p:extLst>
      <p:ext uri="{BB962C8B-B14F-4D97-AF65-F5344CB8AC3E}">
        <p14:creationId xmlns:p14="http://schemas.microsoft.com/office/powerpoint/2010/main" val="1356529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C44BA-8E83-3BCB-7600-08D4342B2F54}"/>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8E4D5BA3-43CD-23C4-EED0-52EA96BE7D9D}"/>
              </a:ext>
            </a:extLst>
          </p:cNvPr>
          <p:cNvSpPr txBox="1"/>
          <p:nvPr/>
        </p:nvSpPr>
        <p:spPr>
          <a:xfrm>
            <a:off x="313200" y="986400"/>
            <a:ext cx="5715000" cy="338554"/>
          </a:xfrm>
          <a:prstGeom prst="rect">
            <a:avLst/>
          </a:prstGeom>
          <a:noFill/>
        </p:spPr>
        <p:txBody>
          <a:bodyPr wrap="square" rtlCol="0">
            <a:spAutoFit/>
          </a:bodyPr>
          <a:lstStyle/>
          <a:p>
            <a:pPr>
              <a:spcAft>
                <a:spcPts val="450"/>
              </a:spcAft>
            </a:pPr>
            <a:r>
              <a:rPr lang="en-US" altLang="zh-CN" sz="1600" dirty="0"/>
              <a:t>Ionosphere combination of two frequencies:</a:t>
            </a:r>
            <a:endParaRPr lang="zh-CN" altLang="en-US" sz="1600" dirty="0"/>
          </a:p>
        </p:txBody>
      </p:sp>
      <p:sp>
        <p:nvSpPr>
          <p:cNvPr id="4" name="Titel 2">
            <a:extLst>
              <a:ext uri="{FF2B5EF4-FFF2-40B4-BE49-F238E27FC236}">
                <a16:creationId xmlns:a16="http://schemas.microsoft.com/office/drawing/2014/main" id="{4EE20960-E8F6-CEAD-48A7-A26FF706F442}"/>
              </a:ext>
            </a:extLst>
          </p:cNvPr>
          <p:cNvSpPr txBox="1">
            <a:spLocks/>
          </p:cNvSpPr>
          <p:nvPr/>
        </p:nvSpPr>
        <p:spPr>
          <a:xfrm>
            <a:off x="319091" y="411510"/>
            <a:ext cx="8508999" cy="3777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hlinkClick r:id="rId3" action="ppaction://hlinksldjump"/>
              </a:rPr>
              <a:t>DORIS Observation Equation</a:t>
            </a:r>
            <a:endParaRPr lang="en-US" dirty="0">
              <a:solidFill>
                <a:sysClr val="windowText" lastClr="000000"/>
              </a:solidFill>
              <a:latin typeface="Aria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431E8E0-8A02-B68B-5BA6-26C910F3CCC8}"/>
                  </a:ext>
                </a:extLst>
              </p:cNvPr>
              <p:cNvSpPr txBox="1"/>
              <p:nvPr/>
            </p:nvSpPr>
            <p:spPr>
              <a:xfrm>
                <a:off x="1043608" y="1707654"/>
                <a:ext cx="6264696" cy="243669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eqArr>
                        <m:eqArrPr>
                          <m:ctrlPr>
                            <a:rPr lang="zh-CN" altLang="en-US" sz="1600" i="1" smtClean="0">
                              <a:latin typeface="Cambria Math" panose="02040503050406030204" pitchFamily="18" charset="0"/>
                            </a:rPr>
                          </m:ctrlPr>
                        </m:eqArrPr>
                        <m:e>
                          <m:r>
                            <a:rPr lang="zh-CN" altLang="en-US" sz="1600">
                              <a:latin typeface="Cambria Math" panose="02040503050406030204" pitchFamily="18" charset="0"/>
                            </a:rPr>
                            <m:t>&amp;</m:t>
                          </m:r>
                          <m:sSub>
                            <m:sSubPr>
                              <m:ctrlPr>
                                <a:rPr lang="zh-CN" altLang="en-US" sz="1600" i="1">
                                  <a:latin typeface="Cambria Math" panose="02040503050406030204" pitchFamily="18" charset="0"/>
                                </a:rPr>
                              </m:ctrlPr>
                            </m:sSubPr>
                            <m:e>
                              <m:r>
                                <m:rPr>
                                  <m:sty m:val="p"/>
                                </m:rPr>
                                <a:rPr lang="zh-CN" altLang="en-US" sz="1600" i="0">
                                  <a:latin typeface="Cambria Math" panose="02040503050406030204" pitchFamily="18" charset="0"/>
                                </a:rPr>
                                <m:t>Φ</m:t>
                              </m:r>
                            </m:e>
                            <m:sub>
                              <m:r>
                                <m:rPr>
                                  <m:sty m:val="p"/>
                                </m:rPr>
                                <a:rPr lang="zh-CN" altLang="en-US" sz="1600" i="0">
                                  <a:latin typeface="Cambria Math" panose="02040503050406030204" pitchFamily="18" charset="0"/>
                                </a:rPr>
                                <m:t>ION</m:t>
                              </m:r>
                            </m:sub>
                          </m:sSub>
                          <m:r>
                            <a:rPr lang="zh-CN" altLang="en-US" sz="1600" i="0">
                              <a:latin typeface="Cambria Math" panose="02040503050406030204" pitchFamily="18" charset="0"/>
                            </a:rPr>
                            <m:t>&amp;&amp;=</m:t>
                          </m:r>
                          <m:f>
                            <m:fPr>
                              <m:ctrlPr>
                                <a:rPr lang="zh-CN" altLang="en-US" sz="1600" i="1">
                                  <a:latin typeface="Cambria Math" panose="02040503050406030204" pitchFamily="18" charset="0"/>
                                </a:rPr>
                              </m:ctrlPr>
                            </m:fPr>
                            <m:num>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1</m:t>
                                  </m:r>
                                </m:sub>
                                <m:sup>
                                  <m:r>
                                    <a:rPr lang="zh-CN" altLang="en-US" sz="1600" i="0">
                                      <a:latin typeface="Cambria Math" panose="02040503050406030204" pitchFamily="18" charset="0"/>
                                    </a:rPr>
                                    <m:t>2</m:t>
                                  </m:r>
                                </m:sup>
                              </m:sSubSup>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2</m:t>
                                  </m:r>
                                </m:sub>
                                <m:sup>
                                  <m:r>
                                    <a:rPr lang="zh-CN" altLang="en-US" sz="1600" i="0">
                                      <a:latin typeface="Cambria Math" panose="02040503050406030204" pitchFamily="18" charset="0"/>
                                    </a:rPr>
                                    <m:t>2</m:t>
                                  </m:r>
                                </m:sup>
                              </m:sSubSup>
                            </m:num>
                            <m:den>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1</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2</m:t>
                                  </m:r>
                                </m:sub>
                                <m:sup>
                                  <m:r>
                                    <a:rPr lang="zh-CN" altLang="en-US" sz="1600" i="0">
                                      <a:latin typeface="Cambria Math" panose="02040503050406030204" pitchFamily="18" charset="0"/>
                                    </a:rPr>
                                    <m:t>2</m:t>
                                  </m:r>
                                </m:sup>
                              </m:sSubSup>
                            </m:den>
                          </m:f>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𝜆</m:t>
                                  </m:r>
                                </m:e>
                                <m:sub>
                                  <m:r>
                                    <a:rPr lang="zh-CN" altLang="en-US" sz="1600" i="0">
                                      <a:latin typeface="Cambria Math" panose="02040503050406030204" pitchFamily="18" charset="0"/>
                                    </a:rPr>
                                    <m:t>1</m:t>
                                  </m:r>
                                </m:sub>
                              </m:sSub>
                              <m:sSubSup>
                                <m:sSubSupPr>
                                  <m:ctrlPr>
                                    <a:rPr lang="zh-CN" altLang="en-US" sz="1600" i="1">
                                      <a:latin typeface="Cambria Math" panose="02040503050406030204" pitchFamily="18" charset="0"/>
                                    </a:rPr>
                                  </m:ctrlPr>
                                </m:sSubSupPr>
                                <m:e>
                                  <m:r>
                                    <m:rPr>
                                      <m:sty m:val="p"/>
                                    </m:rPr>
                                    <a:rPr lang="zh-CN" altLang="en-US" sz="1600" i="0">
                                      <a:latin typeface="Cambria Math" panose="02040503050406030204" pitchFamily="18" charset="0"/>
                                    </a:rPr>
                                    <m:t>Φ</m:t>
                                  </m:r>
                                </m:e>
                                <m:sub>
                                  <m:r>
                                    <a:rPr lang="zh-CN" altLang="en-US" sz="1600" i="1">
                                      <a:latin typeface="Cambria Math" panose="02040503050406030204" pitchFamily="18" charset="0"/>
                                    </a:rPr>
                                    <m:t>𝑡</m:t>
                                  </m:r>
                                  <m:r>
                                    <a:rPr lang="zh-CN" altLang="en-US" sz="1600" i="0">
                                      <a:latin typeface="Cambria Math" panose="02040503050406030204" pitchFamily="18" charset="0"/>
                                    </a:rPr>
                                    <m:t>,1</m:t>
                                  </m:r>
                                </m:sub>
                                <m:sup>
                                  <m:r>
                                    <a:rPr lang="zh-CN" altLang="en-US" sz="1600" i="1">
                                      <a:latin typeface="Cambria Math" panose="02040503050406030204" pitchFamily="18" charset="0"/>
                                    </a:rPr>
                                    <m:t>𝑟</m:t>
                                  </m:r>
                                </m:sup>
                              </m:sSubSup>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𝜆</m:t>
                                  </m:r>
                                </m:e>
                                <m:sub>
                                  <m:r>
                                    <a:rPr lang="zh-CN" altLang="en-US" sz="1600" i="0">
                                      <a:latin typeface="Cambria Math" panose="02040503050406030204" pitchFamily="18" charset="0"/>
                                    </a:rPr>
                                    <m:t>2</m:t>
                                  </m:r>
                                </m:sub>
                              </m:sSub>
                              <m:sSubSup>
                                <m:sSubSupPr>
                                  <m:ctrlPr>
                                    <a:rPr lang="zh-CN" altLang="en-US" sz="1600" i="1">
                                      <a:latin typeface="Cambria Math" panose="02040503050406030204" pitchFamily="18" charset="0"/>
                                    </a:rPr>
                                  </m:ctrlPr>
                                </m:sSubSupPr>
                                <m:e>
                                  <m:r>
                                    <m:rPr>
                                      <m:sty m:val="p"/>
                                    </m:rPr>
                                    <a:rPr lang="zh-CN" altLang="en-US" sz="1600" i="0">
                                      <a:latin typeface="Cambria Math" panose="02040503050406030204" pitchFamily="18" charset="0"/>
                                    </a:rPr>
                                    <m:t>Φ</m:t>
                                  </m:r>
                                </m:e>
                                <m:sub>
                                  <m:r>
                                    <a:rPr lang="zh-CN" altLang="en-US" sz="1600" i="1">
                                      <a:latin typeface="Cambria Math" panose="02040503050406030204" pitchFamily="18" charset="0"/>
                                    </a:rPr>
                                    <m:t>𝑡</m:t>
                                  </m:r>
                                  <m:r>
                                    <a:rPr lang="zh-CN" altLang="en-US" sz="1600" i="0">
                                      <a:latin typeface="Cambria Math" panose="02040503050406030204" pitchFamily="18" charset="0"/>
                                    </a:rPr>
                                    <m:t>,2</m:t>
                                  </m:r>
                                </m:sub>
                                <m:sup>
                                  <m:r>
                                    <a:rPr lang="zh-CN" altLang="en-US" sz="1600" i="1">
                                      <a:latin typeface="Cambria Math" panose="02040503050406030204" pitchFamily="18" charset="0"/>
                                    </a:rPr>
                                    <m:t>𝑟</m:t>
                                  </m:r>
                                </m:sup>
                              </m:sSubSup>
                            </m:e>
                          </m:d>
                        </m:e>
                        <m:e>
                          <m:r>
                            <a:rPr lang="zh-CN" altLang="en-US" sz="1600" i="0">
                              <a:latin typeface="Cambria Math" panose="02040503050406030204" pitchFamily="18" charset="0"/>
                            </a:rPr>
                            <m:t>&amp;&amp;&amp;=</m:t>
                          </m:r>
                          <m:f>
                            <m:fPr>
                              <m:ctrlPr>
                                <a:rPr lang="zh-CN" altLang="en-US" sz="1600" i="1">
                                  <a:latin typeface="Cambria Math" panose="02040503050406030204" pitchFamily="18" charset="0"/>
                                </a:rPr>
                              </m:ctrlPr>
                            </m:fPr>
                            <m:num>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1</m:t>
                                  </m:r>
                                </m:sub>
                                <m:sup>
                                  <m:r>
                                    <a:rPr lang="zh-CN" altLang="en-US" sz="1600" i="0">
                                      <a:latin typeface="Cambria Math" panose="02040503050406030204" pitchFamily="18" charset="0"/>
                                    </a:rPr>
                                    <m:t>2</m:t>
                                  </m:r>
                                </m:sup>
                              </m:sSubSup>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2</m:t>
                                  </m:r>
                                </m:sub>
                                <m:sup>
                                  <m:r>
                                    <a:rPr lang="zh-CN" altLang="en-US" sz="1600" i="0">
                                      <a:latin typeface="Cambria Math" panose="02040503050406030204" pitchFamily="18" charset="0"/>
                                    </a:rPr>
                                    <m:t>2</m:t>
                                  </m:r>
                                </m:sup>
                              </m:sSubSup>
                            </m:num>
                            <m:den>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1</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2</m:t>
                                  </m:r>
                                </m:sub>
                                <m:sup>
                                  <m:r>
                                    <a:rPr lang="zh-CN" altLang="en-US" sz="1600" i="0">
                                      <a:latin typeface="Cambria Math" panose="02040503050406030204" pitchFamily="18" charset="0"/>
                                    </a:rPr>
                                    <m:t>2</m:t>
                                  </m:r>
                                </m:sup>
                              </m:sSubSup>
                            </m:den>
                          </m:f>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i="0">
                                      <a:latin typeface="Cambria Math" panose="02040503050406030204" pitchFamily="18" charset="0"/>
                                    </a:rPr>
                                    <m:t>−40.3</m:t>
                                  </m:r>
                                </m:num>
                                <m:den>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1</m:t>
                                      </m:r>
                                    </m:sub>
                                    <m:sup>
                                      <m:r>
                                        <a:rPr lang="zh-CN" altLang="en-US" sz="1600" i="0">
                                          <a:latin typeface="Cambria Math" panose="02040503050406030204" pitchFamily="18" charset="0"/>
                                        </a:rPr>
                                        <m:t>2</m:t>
                                      </m:r>
                                    </m:sup>
                                  </m:sSubSup>
                                </m:den>
                              </m:f>
                              <m:r>
                                <m:rPr>
                                  <m:sty m:val="p"/>
                                </m:rPr>
                                <a:rPr lang="zh-CN" altLang="en-US" sz="1600" i="0">
                                  <a:latin typeface="Cambria Math" panose="02040503050406030204" pitchFamily="18" charset="0"/>
                                </a:rPr>
                                <m:t>STEC</m:t>
                              </m:r>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0">
                                      <a:latin typeface="Cambria Math" panose="02040503050406030204" pitchFamily="18" charset="0"/>
                                    </a:rPr>
                                    <m:t>40.3</m:t>
                                  </m:r>
                                </m:num>
                                <m:den>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2</m:t>
                                      </m:r>
                                    </m:sub>
                                    <m:sup>
                                      <m:r>
                                        <a:rPr lang="zh-CN" altLang="en-US" sz="1600" i="0">
                                          <a:latin typeface="Cambria Math" panose="02040503050406030204" pitchFamily="18" charset="0"/>
                                        </a:rPr>
                                        <m:t>2</m:t>
                                      </m:r>
                                    </m:sup>
                                  </m:sSubSup>
                                </m:den>
                              </m:f>
                              <m:r>
                                <m:rPr>
                                  <m:sty m:val="p"/>
                                </m:rPr>
                                <a:rPr lang="zh-CN" altLang="en-US" sz="1600" i="0">
                                  <a:latin typeface="Cambria Math" panose="02040503050406030204" pitchFamily="18" charset="0"/>
                                </a:rPr>
                                <m:t>STEC</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𝜆</m:t>
                                  </m:r>
                                </m:e>
                                <m:sub>
                                  <m:r>
                                    <a:rPr lang="zh-CN" altLang="en-US" sz="1600" i="0">
                                      <a:latin typeface="Cambria Math" panose="02040503050406030204" pitchFamily="18" charset="0"/>
                                    </a:rPr>
                                    <m:t>1</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𝑁</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𝜆</m:t>
                                  </m:r>
                                </m:e>
                                <m:sub>
                                  <m:r>
                                    <a:rPr lang="zh-CN" altLang="en-US" sz="1600" i="0">
                                      <a:latin typeface="Cambria Math" panose="02040503050406030204" pitchFamily="18" charset="0"/>
                                    </a:rPr>
                                    <m:t>2</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𝑁</m:t>
                                  </m:r>
                                </m:e>
                                <m:sub>
                                  <m:r>
                                    <a:rPr lang="zh-CN" altLang="en-US" sz="1600" i="0">
                                      <a:latin typeface="Cambria Math" panose="02040503050406030204" pitchFamily="18" charset="0"/>
                                    </a:rPr>
                                    <m:t>2</m:t>
                                  </m:r>
                                </m:sub>
                              </m:sSub>
                              <m:r>
                                <a:rPr lang="zh-CN" altLang="en-US" sz="1600" i="0">
                                  <a:latin typeface="Cambria Math" panose="02040503050406030204" pitchFamily="18" charset="0"/>
                                </a:rPr>
                                <m:t>+</m:t>
                              </m:r>
                              <m:r>
                                <m:rPr>
                                  <m:sty m:val="p"/>
                                </m:rPr>
                                <a:rPr lang="zh-CN" altLang="en-US" sz="1600" i="0">
                                  <a:latin typeface="Cambria Math" panose="02040503050406030204" pitchFamily="18" charset="0"/>
                                </a:rPr>
                                <m:t>Δ</m:t>
                              </m:r>
                              <m:r>
                                <a:rPr lang="zh-CN" altLang="en-US" sz="1600" i="1">
                                  <a:latin typeface="Cambria Math" panose="02040503050406030204" pitchFamily="18" charset="0"/>
                                </a:rPr>
                                <m:t>𝐷</m:t>
                              </m:r>
                            </m:e>
                          </m:d>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𝜖</m:t>
                              </m:r>
                            </m:e>
                            <m:sub>
                              <m:r>
                                <m:rPr>
                                  <m:sty m:val="p"/>
                                </m:rPr>
                                <a:rPr lang="zh-CN" altLang="en-US" sz="1600" i="0">
                                  <a:latin typeface="Cambria Math" panose="02040503050406030204" pitchFamily="18" charset="0"/>
                                </a:rPr>
                                <m:t>ION</m:t>
                              </m:r>
                            </m:sub>
                          </m:sSub>
                        </m:e>
                        <m:e>
                          <m:r>
                            <a:rPr lang="zh-CN" altLang="en-US" sz="1600" i="0">
                              <a:latin typeface="Cambria Math" panose="02040503050406030204" pitchFamily="18" charset="0"/>
                            </a:rPr>
                            <m:t>&amp;&amp;&amp;=</m:t>
                          </m:r>
                          <m:f>
                            <m:fPr>
                              <m:ctrlPr>
                                <a:rPr lang="zh-CN" altLang="en-US" sz="1600" i="1">
                                  <a:latin typeface="Cambria Math" panose="02040503050406030204" pitchFamily="18" charset="0"/>
                                </a:rPr>
                              </m:ctrlPr>
                            </m:fPr>
                            <m:num>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1</m:t>
                                  </m:r>
                                </m:sub>
                                <m:sup>
                                  <m:r>
                                    <a:rPr lang="zh-CN" altLang="en-US" sz="1600" i="0">
                                      <a:latin typeface="Cambria Math" panose="02040503050406030204" pitchFamily="18" charset="0"/>
                                    </a:rPr>
                                    <m:t>2</m:t>
                                  </m:r>
                                </m:sup>
                              </m:sSubSup>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2</m:t>
                                  </m:r>
                                </m:sub>
                                <m:sup>
                                  <m:r>
                                    <a:rPr lang="zh-CN" altLang="en-US" sz="1600" i="0">
                                      <a:latin typeface="Cambria Math" panose="02040503050406030204" pitchFamily="18" charset="0"/>
                                    </a:rPr>
                                    <m:t>2</m:t>
                                  </m:r>
                                </m:sup>
                              </m:sSubSup>
                            </m:num>
                            <m:den>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1</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2</m:t>
                                  </m:r>
                                </m:sub>
                                <m:sup>
                                  <m:r>
                                    <a:rPr lang="zh-CN" altLang="en-US" sz="1600" i="0">
                                      <a:latin typeface="Cambria Math" panose="02040503050406030204" pitchFamily="18" charset="0"/>
                                    </a:rPr>
                                    <m:t>2</m:t>
                                  </m:r>
                                </m:sup>
                              </m:sSubSup>
                            </m:den>
                          </m:f>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1</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2</m:t>
                                      </m:r>
                                    </m:sub>
                                    <m:sup>
                                      <m:r>
                                        <a:rPr lang="zh-CN" altLang="en-US" sz="1600" i="0">
                                          <a:latin typeface="Cambria Math" panose="02040503050406030204" pitchFamily="18" charset="0"/>
                                        </a:rPr>
                                        <m:t>2</m:t>
                                      </m:r>
                                    </m:sup>
                                  </m:sSubSup>
                                </m:num>
                                <m:den>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1</m:t>
                                      </m:r>
                                    </m:sub>
                                    <m:sup>
                                      <m:r>
                                        <a:rPr lang="zh-CN" altLang="en-US" sz="1600" i="0">
                                          <a:latin typeface="Cambria Math" panose="02040503050406030204" pitchFamily="18" charset="0"/>
                                        </a:rPr>
                                        <m:t>2</m:t>
                                      </m:r>
                                    </m:sup>
                                  </m:sSubSup>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2</m:t>
                                      </m:r>
                                    </m:sub>
                                    <m:sup>
                                      <m:r>
                                        <a:rPr lang="zh-CN" altLang="en-US" sz="1600" i="0">
                                          <a:latin typeface="Cambria Math" panose="02040503050406030204" pitchFamily="18" charset="0"/>
                                        </a:rPr>
                                        <m:t>2</m:t>
                                      </m:r>
                                    </m:sup>
                                  </m:sSubSup>
                                </m:den>
                              </m:f>
                              <m:r>
                                <a:rPr lang="zh-CN" altLang="en-US" sz="1600" i="0">
                                  <a:latin typeface="Cambria Math" panose="02040503050406030204" pitchFamily="18" charset="0"/>
                                </a:rPr>
                                <m:t>40.3⋅</m:t>
                              </m:r>
                              <m:r>
                                <m:rPr>
                                  <m:sty m:val="p"/>
                                </m:rPr>
                                <a:rPr lang="zh-CN" altLang="en-US" sz="1600" i="0">
                                  <a:latin typeface="Cambria Math" panose="02040503050406030204" pitchFamily="18" charset="0"/>
                                </a:rPr>
                                <m:t>STEC</m:t>
                              </m:r>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𝜆</m:t>
                                  </m:r>
                                </m:e>
                                <m:sub>
                                  <m:r>
                                    <a:rPr lang="zh-CN" altLang="en-US" sz="1600" i="0">
                                      <a:latin typeface="Cambria Math" panose="02040503050406030204" pitchFamily="18" charset="0"/>
                                    </a:rPr>
                                    <m:t>1</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𝑁</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𝜆</m:t>
                                  </m:r>
                                </m:e>
                                <m:sub>
                                  <m:r>
                                    <a:rPr lang="zh-CN" altLang="en-US" sz="1600" i="0">
                                      <a:latin typeface="Cambria Math" panose="02040503050406030204" pitchFamily="18" charset="0"/>
                                    </a:rPr>
                                    <m:t>2</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𝑁</m:t>
                                  </m:r>
                                </m:e>
                                <m:sub>
                                  <m:r>
                                    <a:rPr lang="zh-CN" altLang="en-US" sz="1600" i="0">
                                      <a:latin typeface="Cambria Math" panose="02040503050406030204" pitchFamily="18" charset="0"/>
                                    </a:rPr>
                                    <m:t>2</m:t>
                                  </m:r>
                                </m:sub>
                              </m:sSub>
                              <m:r>
                                <a:rPr lang="zh-CN" altLang="en-US" sz="1600" i="0">
                                  <a:latin typeface="Cambria Math" panose="02040503050406030204" pitchFamily="18" charset="0"/>
                                </a:rPr>
                                <m:t>+</m:t>
                              </m:r>
                              <m:r>
                                <m:rPr>
                                  <m:sty m:val="p"/>
                                </m:rPr>
                                <a:rPr lang="zh-CN" altLang="en-US" sz="1600" i="0">
                                  <a:latin typeface="Cambria Math" panose="02040503050406030204" pitchFamily="18" charset="0"/>
                                </a:rPr>
                                <m:t>Δ</m:t>
                              </m:r>
                              <m:r>
                                <a:rPr lang="zh-CN" altLang="en-US" sz="1600" i="1">
                                  <a:latin typeface="Cambria Math" panose="02040503050406030204" pitchFamily="18" charset="0"/>
                                </a:rPr>
                                <m:t>𝐷</m:t>
                              </m:r>
                            </m:e>
                          </m:d>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𝜖</m:t>
                              </m:r>
                            </m:e>
                            <m:sub>
                              <m:r>
                                <m:rPr>
                                  <m:sty m:val="p"/>
                                </m:rPr>
                                <a:rPr lang="zh-CN" altLang="en-US" sz="1600" i="0">
                                  <a:latin typeface="Cambria Math" panose="02040503050406030204" pitchFamily="18" charset="0"/>
                                </a:rPr>
                                <m:t>ION</m:t>
                              </m:r>
                            </m:sub>
                          </m:sSub>
                        </m:e>
                        <m:e>
                          <m:r>
                            <a:rPr lang="zh-CN" altLang="en-US" sz="1600" i="0">
                              <a:latin typeface="Cambria Math" panose="02040503050406030204" pitchFamily="18" charset="0"/>
                            </a:rPr>
                            <m:t>&amp;&amp;&amp;=40.3⋅</m:t>
                          </m:r>
                          <m:r>
                            <m:rPr>
                              <m:sty m:val="p"/>
                            </m:rPr>
                            <a:rPr lang="zh-CN" altLang="en-US" sz="1600" i="0">
                              <a:latin typeface="Cambria Math" panose="02040503050406030204" pitchFamily="18" charset="0"/>
                            </a:rPr>
                            <m:t>STEC</m:t>
                          </m:r>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1</m:t>
                                  </m:r>
                                </m:sub>
                                <m:sup>
                                  <m:r>
                                    <a:rPr lang="zh-CN" altLang="en-US" sz="1600" i="0">
                                      <a:latin typeface="Cambria Math" panose="02040503050406030204" pitchFamily="18" charset="0"/>
                                    </a:rPr>
                                    <m:t>2</m:t>
                                  </m:r>
                                </m:sup>
                              </m:sSubSup>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2</m:t>
                                  </m:r>
                                </m:sub>
                                <m:sup>
                                  <m:r>
                                    <a:rPr lang="zh-CN" altLang="en-US" sz="1600" i="0">
                                      <a:latin typeface="Cambria Math" panose="02040503050406030204" pitchFamily="18" charset="0"/>
                                    </a:rPr>
                                    <m:t>2</m:t>
                                  </m:r>
                                </m:sup>
                              </m:sSubSup>
                            </m:num>
                            <m:den>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1</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𝑓</m:t>
                                  </m:r>
                                </m:e>
                                <m:sub>
                                  <m:r>
                                    <a:rPr lang="zh-CN" altLang="en-US" sz="1600" i="0">
                                      <a:latin typeface="Cambria Math" panose="02040503050406030204" pitchFamily="18" charset="0"/>
                                    </a:rPr>
                                    <m:t>2</m:t>
                                  </m:r>
                                </m:sub>
                                <m:sup>
                                  <m:r>
                                    <a:rPr lang="zh-CN" altLang="en-US" sz="1600" i="0">
                                      <a:latin typeface="Cambria Math" panose="02040503050406030204" pitchFamily="18" charset="0"/>
                                    </a:rPr>
                                    <m:t>2</m:t>
                                  </m:r>
                                </m:sup>
                              </m:sSubSup>
                            </m:den>
                          </m:f>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𝜆</m:t>
                                  </m:r>
                                </m:e>
                                <m:sub>
                                  <m:r>
                                    <a:rPr lang="zh-CN" altLang="en-US" sz="1600" i="0">
                                      <a:latin typeface="Cambria Math" panose="02040503050406030204" pitchFamily="18" charset="0"/>
                                    </a:rPr>
                                    <m:t>1</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𝑁</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𝜆</m:t>
                                  </m:r>
                                </m:e>
                                <m:sub>
                                  <m:r>
                                    <a:rPr lang="zh-CN" altLang="en-US" sz="1600" i="0">
                                      <a:latin typeface="Cambria Math" panose="02040503050406030204" pitchFamily="18" charset="0"/>
                                    </a:rPr>
                                    <m:t>2</m:t>
                                  </m:r>
                                </m:sub>
                              </m:sSub>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𝑁</m:t>
                                  </m:r>
                                </m:e>
                                <m:sub>
                                  <m:r>
                                    <a:rPr lang="zh-CN" altLang="en-US" sz="1600" i="0">
                                      <a:latin typeface="Cambria Math" panose="02040503050406030204" pitchFamily="18" charset="0"/>
                                    </a:rPr>
                                    <m:t>2</m:t>
                                  </m:r>
                                </m:sub>
                              </m:sSub>
                              <m:r>
                                <a:rPr lang="zh-CN" altLang="en-US" sz="1600" i="0">
                                  <a:latin typeface="Cambria Math" panose="02040503050406030204" pitchFamily="18" charset="0"/>
                                </a:rPr>
                                <m:t>+</m:t>
                              </m:r>
                              <m:r>
                                <m:rPr>
                                  <m:sty m:val="p"/>
                                </m:rPr>
                                <a:rPr lang="zh-CN" altLang="en-US" sz="1600" i="0">
                                  <a:latin typeface="Cambria Math" panose="02040503050406030204" pitchFamily="18" charset="0"/>
                                </a:rPr>
                                <m:t>Δ</m:t>
                              </m:r>
                              <m:r>
                                <a:rPr lang="zh-CN" altLang="en-US" sz="1600" i="1">
                                  <a:latin typeface="Cambria Math" panose="02040503050406030204" pitchFamily="18" charset="0"/>
                                </a:rPr>
                                <m:t>𝐷</m:t>
                              </m:r>
                            </m:e>
                          </m:d>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𝜖</m:t>
                              </m:r>
                            </m:e>
                            <m:sub>
                              <m:r>
                                <m:rPr>
                                  <m:sty m:val="p"/>
                                </m:rPr>
                                <a:rPr lang="zh-CN" altLang="en-US" sz="1600" i="0">
                                  <a:latin typeface="Cambria Math" panose="02040503050406030204" pitchFamily="18" charset="0"/>
                                </a:rPr>
                                <m:t>ION</m:t>
                              </m:r>
                            </m:sub>
                          </m:sSub>
                        </m:e>
                      </m:eqArr>
                    </m:oMath>
                  </m:oMathPara>
                </a14:m>
                <a:endParaRPr lang="zh-CN" altLang="en-US" dirty="0"/>
              </a:p>
            </p:txBody>
          </p:sp>
        </mc:Choice>
        <mc:Fallback xmlns="">
          <p:sp>
            <p:nvSpPr>
              <p:cNvPr id="3" name="文本框 2">
                <a:extLst>
                  <a:ext uri="{FF2B5EF4-FFF2-40B4-BE49-F238E27FC236}">
                    <a16:creationId xmlns:a16="http://schemas.microsoft.com/office/drawing/2014/main" id="{B431E8E0-8A02-B68B-5BA6-26C910F3CCC8}"/>
                  </a:ext>
                </a:extLst>
              </p:cNvPr>
              <p:cNvSpPr txBox="1">
                <a:spLocks noRot="1" noChangeAspect="1" noMove="1" noResize="1" noEditPoints="1" noAdjustHandles="1" noChangeArrowheads="1" noChangeShapeType="1" noTextEdit="1"/>
              </p:cNvSpPr>
              <p:nvPr/>
            </p:nvSpPr>
            <p:spPr>
              <a:xfrm>
                <a:off x="1043608" y="1707654"/>
                <a:ext cx="6264696" cy="2436693"/>
              </a:xfrm>
              <a:prstGeom prst="rect">
                <a:avLst/>
              </a:prstGeom>
              <a:blipFill>
                <a:blip r:embed="rId4"/>
                <a:stretch>
                  <a:fillRect r="-7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260895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C44BA-8E83-3BCB-7600-08D4342B2F54}"/>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D3CC3930-370B-E76A-08F2-4BD03C822152}"/>
              </a:ext>
            </a:extLst>
          </p:cNvPr>
          <p:cNvPicPr>
            <a:picLocks noChangeAspect="1"/>
          </p:cNvPicPr>
          <p:nvPr/>
        </p:nvPicPr>
        <p:blipFill>
          <a:blip r:embed="rId3"/>
          <a:stretch>
            <a:fillRect/>
          </a:stretch>
        </p:blipFill>
        <p:spPr>
          <a:xfrm>
            <a:off x="288553" y="843558"/>
            <a:ext cx="6576200" cy="3665136"/>
          </a:xfrm>
          <a:prstGeom prst="rect">
            <a:avLst/>
          </a:prstGeom>
        </p:spPr>
      </p:pic>
      <p:graphicFrame>
        <p:nvGraphicFramePr>
          <p:cNvPr id="14" name="表格 13">
            <a:extLst>
              <a:ext uri="{FF2B5EF4-FFF2-40B4-BE49-F238E27FC236}">
                <a16:creationId xmlns:a16="http://schemas.microsoft.com/office/drawing/2014/main" id="{DFFE5D81-9291-EC7F-3F80-A1AC5A482E0C}"/>
              </a:ext>
            </a:extLst>
          </p:cNvPr>
          <p:cNvGraphicFramePr>
            <a:graphicFrameLocks noGrp="1"/>
          </p:cNvGraphicFramePr>
          <p:nvPr>
            <p:extLst>
              <p:ext uri="{D42A27DB-BD31-4B8C-83A1-F6EECF244321}">
                <p14:modId xmlns:p14="http://schemas.microsoft.com/office/powerpoint/2010/main" val="2106378606"/>
              </p:ext>
            </p:extLst>
          </p:nvPr>
        </p:nvGraphicFramePr>
        <p:xfrm>
          <a:off x="3170700" y="3662874"/>
          <a:ext cx="2286000" cy="84582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217453171"/>
                    </a:ext>
                  </a:extLst>
                </a:gridCol>
                <a:gridCol w="1143000">
                  <a:extLst>
                    <a:ext uri="{9D8B030D-6E8A-4147-A177-3AD203B41FA5}">
                      <a16:colId xmlns:a16="http://schemas.microsoft.com/office/drawing/2014/main" val="5136558"/>
                    </a:ext>
                  </a:extLst>
                </a:gridCol>
              </a:tblGrid>
              <a:tr h="278130">
                <a:tc>
                  <a:txBody>
                    <a:bodyPr/>
                    <a:lstStyle/>
                    <a:p>
                      <a:r>
                        <a:rPr lang="en-US" altLang="zh-CN" sz="1400" dirty="0">
                          <a:latin typeface="Arial" panose="020B0604020202020204" pitchFamily="34" charset="0"/>
                          <a:cs typeface="Arial" panose="020B0604020202020204" pitchFamily="34" charset="0"/>
                        </a:rPr>
                        <a:t>Beacon</a:t>
                      </a:r>
                      <a:endParaRPr lang="zh-CN" altLang="en-US" sz="1400" dirty="0">
                        <a:latin typeface="Arial" panose="020B0604020202020204" pitchFamily="34" charset="0"/>
                        <a:cs typeface="Arial" panose="020B0604020202020204" pitchFamily="34" charset="0"/>
                      </a:endParaRPr>
                    </a:p>
                  </a:txBody>
                  <a:tcPr marL="68580" marR="68580" marT="34290" marB="34290"/>
                </a:tc>
                <a:tc>
                  <a:txBody>
                    <a:bodyPr/>
                    <a:lstStyle/>
                    <a:p>
                      <a:r>
                        <a:rPr lang="en-US" altLang="zh-CN" sz="1400" dirty="0">
                          <a:latin typeface="Arial" panose="020B0604020202020204" pitchFamily="34" charset="0"/>
                          <a:cs typeface="Arial" panose="020B0604020202020204" pitchFamily="34" charset="0"/>
                        </a:rPr>
                        <a:t>Offset [m]</a:t>
                      </a:r>
                      <a:endParaRPr lang="zh-CN" altLang="en-US" sz="1400" dirty="0">
                        <a:latin typeface="Arial" panose="020B0604020202020204" pitchFamily="34" charset="0"/>
                        <a:cs typeface="Arial" panose="020B0604020202020204" pitchFamily="34" charset="0"/>
                      </a:endParaRPr>
                    </a:p>
                  </a:txBody>
                  <a:tcPr marL="68580" marR="68580" marT="34290" marB="34290"/>
                </a:tc>
                <a:extLst>
                  <a:ext uri="{0D108BD9-81ED-4DB2-BD59-A6C34878D82A}">
                    <a16:rowId xmlns:a16="http://schemas.microsoft.com/office/drawing/2014/main" val="2728780415"/>
                  </a:ext>
                </a:extLst>
              </a:tr>
              <a:tr h="278130">
                <a:tc>
                  <a:txBody>
                    <a:bodyPr/>
                    <a:lstStyle/>
                    <a:p>
                      <a:r>
                        <a:rPr lang="en-US" altLang="zh-CN" sz="1400" dirty="0">
                          <a:latin typeface="Arial" panose="020B0604020202020204" pitchFamily="34" charset="0"/>
                          <a:cs typeface="Arial" panose="020B0604020202020204" pitchFamily="34" charset="0"/>
                        </a:rPr>
                        <a:t>Alcatel</a:t>
                      </a:r>
                      <a:endParaRPr lang="zh-CN" altLang="en-US" sz="1400" dirty="0">
                        <a:latin typeface="Arial" panose="020B0604020202020204" pitchFamily="34" charset="0"/>
                        <a:cs typeface="Arial" panose="020B0604020202020204" pitchFamily="34" charset="0"/>
                      </a:endParaRPr>
                    </a:p>
                  </a:txBody>
                  <a:tcPr marL="68580" marR="68580" marT="34290" marB="34290"/>
                </a:tc>
                <a:tc>
                  <a:txBody>
                    <a:bodyPr/>
                    <a:lstStyle/>
                    <a:p>
                      <a:r>
                        <a:rPr lang="en-US" altLang="zh-CN" sz="1400" dirty="0">
                          <a:latin typeface="Arial" panose="020B0604020202020204" pitchFamily="34" charset="0"/>
                          <a:cs typeface="Arial" panose="020B0604020202020204" pitchFamily="34" charset="0"/>
                        </a:rPr>
                        <a:t>0.175</a:t>
                      </a:r>
                      <a:endParaRPr lang="zh-CN" altLang="en-US" sz="1400" dirty="0">
                        <a:latin typeface="Arial" panose="020B0604020202020204" pitchFamily="34" charset="0"/>
                        <a:cs typeface="Arial" panose="020B0604020202020204" pitchFamily="34" charset="0"/>
                      </a:endParaRPr>
                    </a:p>
                  </a:txBody>
                  <a:tcPr marL="68580" marR="68580" marT="34290" marB="34290"/>
                </a:tc>
                <a:extLst>
                  <a:ext uri="{0D108BD9-81ED-4DB2-BD59-A6C34878D82A}">
                    <a16:rowId xmlns:a16="http://schemas.microsoft.com/office/drawing/2014/main" val="918634083"/>
                  </a:ext>
                </a:extLst>
              </a:tr>
              <a:tr h="278130">
                <a:tc>
                  <a:txBody>
                    <a:bodyPr/>
                    <a:lstStyle/>
                    <a:p>
                      <a:r>
                        <a:rPr lang="en-US" altLang="zh-CN" sz="1400" dirty="0">
                          <a:latin typeface="Arial" panose="020B0604020202020204" pitchFamily="34" charset="0"/>
                          <a:cs typeface="Arial" panose="020B0604020202020204" pitchFamily="34" charset="0"/>
                        </a:rPr>
                        <a:t>STAREC</a:t>
                      </a:r>
                      <a:endParaRPr lang="zh-CN" altLang="en-US" sz="1400" dirty="0">
                        <a:latin typeface="Arial" panose="020B0604020202020204" pitchFamily="34" charset="0"/>
                        <a:cs typeface="Arial" panose="020B0604020202020204" pitchFamily="34" charset="0"/>
                      </a:endParaRPr>
                    </a:p>
                  </a:txBody>
                  <a:tcPr marL="68580" marR="68580" marT="34290" marB="34290"/>
                </a:tc>
                <a:tc>
                  <a:txBody>
                    <a:bodyPr/>
                    <a:lstStyle/>
                    <a:p>
                      <a:r>
                        <a:rPr lang="en-US" altLang="zh-CN" sz="1400" dirty="0">
                          <a:latin typeface="Arial" panose="020B0604020202020204" pitchFamily="34" charset="0"/>
                          <a:cs typeface="Arial" panose="020B0604020202020204" pitchFamily="34" charset="0"/>
                        </a:rPr>
                        <a:t>0.487</a:t>
                      </a:r>
                      <a:endParaRPr lang="zh-CN" altLang="en-US" sz="1400" dirty="0">
                        <a:latin typeface="Arial" panose="020B0604020202020204" pitchFamily="34" charset="0"/>
                        <a:cs typeface="Arial" panose="020B0604020202020204" pitchFamily="34" charset="0"/>
                      </a:endParaRPr>
                    </a:p>
                  </a:txBody>
                  <a:tcPr marL="68580" marR="68580" marT="34290" marB="34290"/>
                </a:tc>
                <a:extLst>
                  <a:ext uri="{0D108BD9-81ED-4DB2-BD59-A6C34878D82A}">
                    <a16:rowId xmlns:a16="http://schemas.microsoft.com/office/drawing/2014/main" val="1264120677"/>
                  </a:ext>
                </a:extLst>
              </a:tr>
            </a:tbl>
          </a:graphicData>
        </a:graphic>
      </p:graphicFrame>
      <p:sp>
        <p:nvSpPr>
          <p:cNvPr id="4" name="Titel 2">
            <a:extLst>
              <a:ext uri="{FF2B5EF4-FFF2-40B4-BE49-F238E27FC236}">
                <a16:creationId xmlns:a16="http://schemas.microsoft.com/office/drawing/2014/main" id="{72EC7450-E454-F906-48F6-4E05D027E594}"/>
              </a:ext>
            </a:extLst>
          </p:cNvPr>
          <p:cNvSpPr txBox="1">
            <a:spLocks/>
          </p:cNvSpPr>
          <p:nvPr/>
        </p:nvSpPr>
        <p:spPr>
          <a:xfrm>
            <a:off x="319091" y="411510"/>
            <a:ext cx="8508999" cy="3777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hlinkClick r:id="rId4" action="ppaction://hlinksldjump"/>
              </a:rPr>
              <a:t>DORIS Observation Equation</a:t>
            </a:r>
            <a:endParaRPr lang="en-US" dirty="0">
              <a:solidFill>
                <a:sysClr val="windowText" lastClr="000000"/>
              </a:solidFill>
              <a:latin typeface="Arial"/>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F7EE57E4-938B-3EF9-4DBB-4C42FE620294}"/>
                  </a:ext>
                </a:extLst>
              </p:cNvPr>
              <p:cNvSpPr txBox="1"/>
              <p:nvPr/>
            </p:nvSpPr>
            <p:spPr>
              <a:xfrm>
                <a:off x="313200" y="986400"/>
                <a:ext cx="5715000" cy="928459"/>
              </a:xfrm>
              <a:prstGeom prst="rect">
                <a:avLst/>
              </a:prstGeom>
              <a:noFill/>
            </p:spPr>
            <p:txBody>
              <a:bodyPr wrap="square" rtlCol="0">
                <a:spAutoFit/>
              </a:bodyPr>
              <a:lstStyle/>
              <a:p>
                <a:pPr>
                  <a:spcAft>
                    <a:spcPts val="450"/>
                  </a:spcAft>
                </a:pPr>
                <a14:m>
                  <m:oMath xmlns:m="http://schemas.openxmlformats.org/officeDocument/2006/math">
                    <m:r>
                      <m:rPr>
                        <m:sty m:val="p"/>
                      </m:rPr>
                      <a:rPr lang="en-US" altLang="zh-CN" sz="1600">
                        <a:latin typeface="Cambria Math" panose="02040503050406030204" pitchFamily="18" charset="0"/>
                      </a:rPr>
                      <m:t>Δ</m:t>
                    </m:r>
                    <m:r>
                      <a:rPr lang="en-US" altLang="zh-CN" sz="1600" i="1">
                        <a:latin typeface="Cambria Math" panose="02040503050406030204" pitchFamily="18" charset="0"/>
                      </a:rPr>
                      <m:t>𝐷</m:t>
                    </m:r>
                  </m:oMath>
                </a14:m>
                <a:r>
                  <a:rPr lang="en-US" altLang="zh-CN" sz="1600" dirty="0"/>
                  <a:t> is the phase center error</a:t>
                </a:r>
              </a:p>
              <a:p>
                <a:pPr marL="214313" indent="-214313">
                  <a:spcAft>
                    <a:spcPts val="450"/>
                  </a:spcAft>
                  <a:buFont typeface="Arial" panose="020B0604020202020204" pitchFamily="34" charset="0"/>
                  <a:buChar char="•"/>
                </a:pPr>
                <a:endParaRPr lang="en-US" altLang="zh-CN" sz="1500" dirty="0"/>
              </a:p>
              <a:p>
                <a:pPr marL="214313" indent="-214313">
                  <a:spcAft>
                    <a:spcPts val="450"/>
                  </a:spcAft>
                  <a:buFont typeface="Arial" panose="020B0604020202020204" pitchFamily="34" charset="0"/>
                  <a:buChar char="•"/>
                </a:pPr>
                <a:endParaRPr lang="zh-CN" altLang="en-US" sz="1500" dirty="0"/>
              </a:p>
            </p:txBody>
          </p:sp>
        </mc:Choice>
        <mc:Fallback xmlns="">
          <p:sp>
            <p:nvSpPr>
              <p:cNvPr id="9" name="文本框 8">
                <a:extLst>
                  <a:ext uri="{FF2B5EF4-FFF2-40B4-BE49-F238E27FC236}">
                    <a16:creationId xmlns:a16="http://schemas.microsoft.com/office/drawing/2014/main" id="{F7EE57E4-938B-3EF9-4DBB-4C42FE620294}"/>
                  </a:ext>
                </a:extLst>
              </p:cNvPr>
              <p:cNvSpPr txBox="1">
                <a:spLocks noRot="1" noChangeAspect="1" noMove="1" noResize="1" noEditPoints="1" noAdjustHandles="1" noChangeArrowheads="1" noChangeShapeType="1" noTextEdit="1"/>
              </p:cNvSpPr>
              <p:nvPr/>
            </p:nvSpPr>
            <p:spPr>
              <a:xfrm>
                <a:off x="313200" y="986400"/>
                <a:ext cx="5715000" cy="928459"/>
              </a:xfrm>
              <a:prstGeom prst="rect">
                <a:avLst/>
              </a:prstGeom>
              <a:blipFill>
                <a:blip r:embed="rId5"/>
                <a:stretch>
                  <a:fillRect t="-1974"/>
                </a:stretch>
              </a:blipFill>
            </p:spPr>
            <p:txBody>
              <a:bodyPr/>
              <a:lstStyle/>
              <a:p>
                <a:r>
                  <a:rPr lang="zh-CN" altLang="en-US">
                    <a:noFill/>
                  </a:rPr>
                  <a:t> </a:t>
                </a:r>
              </a:p>
            </p:txBody>
          </p:sp>
        </mc:Fallback>
      </mc:AlternateContent>
      <p:graphicFrame>
        <p:nvGraphicFramePr>
          <p:cNvPr id="5" name="表格 13">
            <a:extLst>
              <a:ext uri="{FF2B5EF4-FFF2-40B4-BE49-F238E27FC236}">
                <a16:creationId xmlns:a16="http://schemas.microsoft.com/office/drawing/2014/main" id="{CFA6E6A0-5224-9DCF-D436-71F93FB6F24A}"/>
              </a:ext>
            </a:extLst>
          </p:cNvPr>
          <p:cNvGraphicFramePr>
            <a:graphicFrameLocks noGrp="1"/>
          </p:cNvGraphicFramePr>
          <p:nvPr>
            <p:extLst>
              <p:ext uri="{D42A27DB-BD31-4B8C-83A1-F6EECF244321}">
                <p14:modId xmlns:p14="http://schemas.microsoft.com/office/powerpoint/2010/main" val="888892339"/>
              </p:ext>
            </p:extLst>
          </p:nvPr>
        </p:nvGraphicFramePr>
        <p:xfrm>
          <a:off x="6260250" y="1450629"/>
          <a:ext cx="2286000" cy="84582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518525191"/>
                    </a:ext>
                  </a:extLst>
                </a:gridCol>
                <a:gridCol w="1143000">
                  <a:extLst>
                    <a:ext uri="{9D8B030D-6E8A-4147-A177-3AD203B41FA5}">
                      <a16:colId xmlns:a16="http://schemas.microsoft.com/office/drawing/2014/main" val="198629492"/>
                    </a:ext>
                  </a:extLst>
                </a:gridCol>
              </a:tblGrid>
              <a:tr h="278130">
                <a:tc>
                  <a:txBody>
                    <a:bodyPr/>
                    <a:lstStyle/>
                    <a:p>
                      <a:r>
                        <a:rPr lang="en-US" altLang="zh-CN" sz="1400" dirty="0">
                          <a:latin typeface="Arial" panose="020B0604020202020204" pitchFamily="34" charset="0"/>
                          <a:cs typeface="Arial" panose="020B0604020202020204" pitchFamily="34" charset="0"/>
                        </a:rPr>
                        <a:t>Satellite</a:t>
                      </a:r>
                      <a:endParaRPr lang="zh-CN" altLang="en-US" sz="1400" dirty="0">
                        <a:latin typeface="Arial" panose="020B0604020202020204" pitchFamily="34" charset="0"/>
                        <a:cs typeface="Arial" panose="020B0604020202020204" pitchFamily="34" charset="0"/>
                      </a:endParaRPr>
                    </a:p>
                  </a:txBody>
                  <a:tcPr marL="68580" marR="68580" marT="34290" marB="34290"/>
                </a:tc>
                <a:tc>
                  <a:txBody>
                    <a:bodyPr/>
                    <a:lstStyle/>
                    <a:p>
                      <a:r>
                        <a:rPr lang="en-US" altLang="zh-CN" sz="1400" dirty="0">
                          <a:latin typeface="Arial" panose="020B0604020202020204" pitchFamily="34" charset="0"/>
                          <a:cs typeface="Arial" panose="020B0604020202020204" pitchFamily="34" charset="0"/>
                        </a:rPr>
                        <a:t>Offset [m]</a:t>
                      </a:r>
                      <a:endParaRPr lang="zh-CN" altLang="en-US" sz="1400" dirty="0">
                        <a:latin typeface="Arial" panose="020B0604020202020204" pitchFamily="34" charset="0"/>
                        <a:cs typeface="Arial" panose="020B0604020202020204" pitchFamily="34" charset="0"/>
                      </a:endParaRPr>
                    </a:p>
                  </a:txBody>
                  <a:tcPr marL="68580" marR="68580" marT="34290" marB="34290"/>
                </a:tc>
                <a:extLst>
                  <a:ext uri="{0D108BD9-81ED-4DB2-BD59-A6C34878D82A}">
                    <a16:rowId xmlns:a16="http://schemas.microsoft.com/office/drawing/2014/main" val="2728780415"/>
                  </a:ext>
                </a:extLst>
              </a:tr>
              <a:tr h="278130">
                <a:tc>
                  <a:txBody>
                    <a:bodyPr/>
                    <a:lstStyle/>
                    <a:p>
                      <a:r>
                        <a:rPr lang="en-US" altLang="zh-CN" sz="1400" dirty="0">
                          <a:latin typeface="Arial" panose="020B0604020202020204" pitchFamily="34" charset="0"/>
                          <a:cs typeface="Arial" panose="020B0604020202020204" pitchFamily="34" charset="0"/>
                        </a:rPr>
                        <a:t>Jason-2</a:t>
                      </a:r>
                      <a:endParaRPr lang="zh-CN" altLang="en-US" sz="1400" dirty="0">
                        <a:latin typeface="Arial" panose="020B0604020202020204" pitchFamily="34" charset="0"/>
                        <a:cs typeface="Arial" panose="020B0604020202020204" pitchFamily="34" charset="0"/>
                      </a:endParaRPr>
                    </a:p>
                  </a:txBody>
                  <a:tcPr marL="68580" marR="68580" marT="34290" marB="34290"/>
                </a:tc>
                <a:tc>
                  <a:txBody>
                    <a:bodyPr/>
                    <a:lstStyle/>
                    <a:p>
                      <a:r>
                        <a:rPr lang="en-US" altLang="zh-CN" sz="1400" dirty="0">
                          <a:latin typeface="Arial" panose="020B0604020202020204" pitchFamily="34" charset="0"/>
                          <a:cs typeface="Arial" panose="020B0604020202020204" pitchFamily="34" charset="0"/>
                        </a:rPr>
                        <a:t>0.164</a:t>
                      </a:r>
                      <a:endParaRPr lang="zh-CN" altLang="en-US" sz="1400" dirty="0">
                        <a:latin typeface="Arial" panose="020B0604020202020204" pitchFamily="34" charset="0"/>
                        <a:cs typeface="Arial" panose="020B0604020202020204" pitchFamily="34" charset="0"/>
                      </a:endParaRPr>
                    </a:p>
                  </a:txBody>
                  <a:tcPr marL="68580" marR="68580" marT="34290" marB="34290"/>
                </a:tc>
                <a:extLst>
                  <a:ext uri="{0D108BD9-81ED-4DB2-BD59-A6C34878D82A}">
                    <a16:rowId xmlns:a16="http://schemas.microsoft.com/office/drawing/2014/main" val="918634083"/>
                  </a:ext>
                </a:extLst>
              </a:tr>
              <a:tr h="278130">
                <a:tc>
                  <a:txBody>
                    <a:bodyPr/>
                    <a:lstStyle/>
                    <a:p>
                      <a:r>
                        <a:rPr lang="en-US" altLang="zh-CN" sz="1400" dirty="0">
                          <a:latin typeface="Arial" panose="020B0604020202020204" pitchFamily="34" charset="0"/>
                          <a:cs typeface="Arial" panose="020B0604020202020204" pitchFamily="34" charset="0"/>
                        </a:rPr>
                        <a:t>Jason-3</a:t>
                      </a:r>
                      <a:endParaRPr lang="zh-CN" altLang="en-US" sz="1400" dirty="0">
                        <a:latin typeface="Arial" panose="020B0604020202020204" pitchFamily="34" charset="0"/>
                        <a:cs typeface="Arial" panose="020B0604020202020204" pitchFamily="34" charset="0"/>
                      </a:endParaRPr>
                    </a:p>
                  </a:txBody>
                  <a:tcPr marL="68580" marR="68580" marT="34290" marB="34290"/>
                </a:tc>
                <a:tc>
                  <a:txBody>
                    <a:bodyPr/>
                    <a:lstStyle/>
                    <a:p>
                      <a:r>
                        <a:rPr lang="en-US" altLang="zh-CN" sz="1400" dirty="0">
                          <a:latin typeface="Arial" panose="020B0604020202020204" pitchFamily="34" charset="0"/>
                          <a:cs typeface="Arial" panose="020B0604020202020204" pitchFamily="34" charset="0"/>
                        </a:rPr>
                        <a:t>0.168</a:t>
                      </a:r>
                      <a:endParaRPr lang="zh-CN" altLang="en-US" sz="1400" dirty="0">
                        <a:latin typeface="Arial" panose="020B0604020202020204" pitchFamily="34" charset="0"/>
                        <a:cs typeface="Arial" panose="020B0604020202020204" pitchFamily="34" charset="0"/>
                      </a:endParaRPr>
                    </a:p>
                  </a:txBody>
                  <a:tcPr marL="68580" marR="68580" marT="34290" marB="34290"/>
                </a:tc>
                <a:extLst>
                  <a:ext uri="{0D108BD9-81ED-4DB2-BD59-A6C34878D82A}">
                    <a16:rowId xmlns:a16="http://schemas.microsoft.com/office/drawing/2014/main" val="1264120677"/>
                  </a:ext>
                </a:extLst>
              </a:tr>
            </a:tbl>
          </a:graphicData>
        </a:graphic>
      </p:graphicFrame>
    </p:spTree>
    <p:extLst>
      <p:ext uri="{BB962C8B-B14F-4D97-AF65-F5344CB8AC3E}">
        <p14:creationId xmlns:p14="http://schemas.microsoft.com/office/powerpoint/2010/main" val="22452857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53933-0C96-27E3-19D6-83546DD07544}"/>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ED2EC809-316E-4B4F-4040-239D87000596}"/>
              </a:ext>
            </a:extLst>
          </p:cNvPr>
          <p:cNvPicPr>
            <a:picLocks noChangeAspect="1"/>
          </p:cNvPicPr>
          <p:nvPr/>
        </p:nvPicPr>
        <p:blipFill>
          <a:blip r:embed="rId3"/>
          <a:stretch>
            <a:fillRect/>
          </a:stretch>
        </p:blipFill>
        <p:spPr>
          <a:xfrm>
            <a:off x="107504" y="1419622"/>
            <a:ext cx="5232100" cy="3399387"/>
          </a:xfrm>
          <a:prstGeom prst="rect">
            <a:avLst/>
          </a:prstGeom>
        </p:spPr>
      </p:pic>
      <p:sp>
        <p:nvSpPr>
          <p:cNvPr id="4" name="Titel 2">
            <a:extLst>
              <a:ext uri="{FF2B5EF4-FFF2-40B4-BE49-F238E27FC236}">
                <a16:creationId xmlns:a16="http://schemas.microsoft.com/office/drawing/2014/main" id="{0CD76C15-0B65-653E-615D-57792DC4F780}"/>
              </a:ext>
            </a:extLst>
          </p:cNvPr>
          <p:cNvSpPr txBox="1">
            <a:spLocks/>
          </p:cNvSpPr>
          <p:nvPr/>
        </p:nvSpPr>
        <p:spPr>
          <a:xfrm>
            <a:off x="319091" y="411510"/>
            <a:ext cx="8508999" cy="3777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hlinkClick r:id="rId4" action="ppaction://hlinksldjump"/>
              </a:rPr>
              <a:t>Single-Layer model and VTEC mapping</a:t>
            </a:r>
            <a:endParaRPr lang="en-US" dirty="0">
              <a:solidFill>
                <a:sysClr val="windowText" lastClr="000000"/>
              </a:solidFill>
              <a:latin typeface="Arial"/>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74A30F9-6A5B-340E-A723-FCF879C613EA}"/>
                  </a:ext>
                </a:extLst>
              </p:cNvPr>
              <p:cNvSpPr txBox="1"/>
              <p:nvPr/>
            </p:nvSpPr>
            <p:spPr>
              <a:xfrm>
                <a:off x="3995936" y="1920289"/>
                <a:ext cx="4968552" cy="13029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600" i="1" smtClean="0">
                          <a:latin typeface="Cambria Math" panose="02040503050406030204" pitchFamily="18" charset="0"/>
                        </a:rPr>
                        <m:t>𝑚</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𝑧</m:t>
                          </m:r>
                        </m:e>
                      </m:d>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0">
                              <a:latin typeface="Cambria Math" panose="02040503050406030204" pitchFamily="18" charset="0"/>
                            </a:rPr>
                            <m:t>1</m:t>
                          </m:r>
                        </m:num>
                        <m:den>
                          <m:func>
                            <m:funcPr>
                              <m:ctrlPr>
                                <a:rPr lang="zh-CN" altLang="en-US" sz="1600" i="1">
                                  <a:latin typeface="Cambria Math" panose="02040503050406030204" pitchFamily="18" charset="0"/>
                                </a:rPr>
                              </m:ctrlPr>
                            </m:funcPr>
                            <m:fName>
                              <m:r>
                                <m:rPr>
                                  <m:sty m:val="p"/>
                                </m:rPr>
                                <a:rPr lang="zh-CN" altLang="en-US" sz="1600" i="0">
                                  <a:latin typeface="Cambria Math" panose="02040503050406030204" pitchFamily="18" charset="0"/>
                                </a:rPr>
                                <m:t>cos</m:t>
                              </m:r>
                            </m:fName>
                            <m:e>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𝑧</m:t>
                                  </m:r>
                                </m:e>
                                <m:sup>
                                  <m:r>
                                    <a:rPr lang="zh-CN" altLang="en-US" sz="1600" i="0">
                                      <a:latin typeface="Cambria Math" panose="02040503050406030204" pitchFamily="18" charset="0"/>
                                    </a:rPr>
                                    <m:t>′</m:t>
                                  </m:r>
                                </m:sup>
                              </m:sSup>
                            </m:e>
                          </m:func>
                        </m:den>
                      </m:f>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0">
                              <a:latin typeface="Cambria Math" panose="02040503050406030204" pitchFamily="18" charset="0"/>
                            </a:rPr>
                            <m:t>1</m:t>
                          </m:r>
                        </m:num>
                        <m:den>
                          <m:rad>
                            <m:radPr>
                              <m:degHide m:val="on"/>
                              <m:ctrlPr>
                                <a:rPr lang="zh-CN" altLang="en-US" sz="1600" i="1">
                                  <a:latin typeface="Cambria Math" panose="02040503050406030204" pitchFamily="18" charset="0"/>
                                </a:rPr>
                              </m:ctrlPr>
                            </m:radPr>
                            <m:deg/>
                            <m:e>
                              <m:r>
                                <a:rPr lang="zh-CN" altLang="en-US" sz="1600" i="0">
                                  <a:latin typeface="Cambria Math" panose="02040503050406030204" pitchFamily="18" charset="0"/>
                                </a:rPr>
                                <m:t>1−</m:t>
                              </m:r>
                              <m:func>
                                <m:funcPr>
                                  <m:ctrlPr>
                                    <a:rPr lang="zh-CN" altLang="en-US" sz="1600" i="1">
                                      <a:latin typeface="Cambria Math" panose="02040503050406030204" pitchFamily="18" charset="0"/>
                                    </a:rPr>
                                  </m:ctrlPr>
                                </m:funcPr>
                                <m:fName>
                                  <m:r>
                                    <m:rPr>
                                      <m:sty m:val="p"/>
                                    </m:rPr>
                                    <a:rPr lang="zh-CN" altLang="en-US" sz="1600" i="0">
                                      <a:latin typeface="Cambria Math" panose="02040503050406030204" pitchFamily="18" charset="0"/>
                                    </a:rPr>
                                    <m:t>sin</m:t>
                                  </m:r>
                                </m:fName>
                                <m:e>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𝑧</m:t>
                                      </m:r>
                                    </m:e>
                                    <m:sup>
                                      <m:r>
                                        <a:rPr lang="zh-CN" altLang="en-US" sz="1600" i="0">
                                          <a:latin typeface="Cambria Math" panose="02040503050406030204" pitchFamily="18" charset="0"/>
                                        </a:rPr>
                                        <m:t>′2</m:t>
                                      </m:r>
                                    </m:sup>
                                  </m:sSup>
                                </m:e>
                              </m:func>
                            </m:e>
                          </m:rad>
                        </m:den>
                      </m:f>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d>
                            <m:dPr>
                              <m:ctrlPr>
                                <a:rPr lang="zh-CN" altLang="en-US" sz="1600" i="1">
                                  <a:latin typeface="Cambria Math" panose="02040503050406030204" pitchFamily="18" charset="0"/>
                                </a:rPr>
                              </m:ctrlPr>
                            </m:dPr>
                            <m:e>
                              <m:r>
                                <a:rPr lang="zh-CN" altLang="en-US" sz="1600" i="0">
                                  <a:latin typeface="Cambria Math" panose="02040503050406030204" pitchFamily="18" charset="0"/>
                                </a:rPr>
                                <m:t>1−</m:t>
                              </m:r>
                              <m:sSup>
                                <m:sSupPr>
                                  <m:ctrlPr>
                                    <a:rPr lang="zh-CN" altLang="en-US" sz="1600" i="1">
                                      <a:latin typeface="Cambria Math" panose="02040503050406030204" pitchFamily="18" charset="0"/>
                                    </a:rPr>
                                  </m:ctrlPr>
                                </m:sSupPr>
                                <m:e>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𝑅</m:t>
                                              </m:r>
                                            </m:e>
                                            <m:sub>
                                              <m:r>
                                                <a:rPr lang="zh-CN" altLang="en-US" sz="1600" i="1">
                                                  <a:latin typeface="Cambria Math" panose="02040503050406030204" pitchFamily="18" charset="0"/>
                                                </a:rPr>
                                                <m:t>𝑒</m:t>
                                              </m:r>
                                            </m:sub>
                                          </m:sSub>
                                        </m:num>
                                        <m:den>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𝑅</m:t>
                                              </m:r>
                                            </m:e>
                                            <m:sub>
                                              <m:r>
                                                <a:rPr lang="zh-CN" altLang="en-US" sz="1600" i="1">
                                                  <a:latin typeface="Cambria Math" panose="02040503050406030204" pitchFamily="18" charset="0"/>
                                                </a:rPr>
                                                <m:t>𝑒</m:t>
                                              </m:r>
                                            </m:sub>
                                          </m:sSub>
                                          <m:r>
                                            <a:rPr lang="zh-CN" altLang="en-US" sz="1600" i="0">
                                              <a:latin typeface="Cambria Math" panose="02040503050406030204" pitchFamily="18" charset="0"/>
                                            </a:rPr>
                                            <m:t>+</m:t>
                                          </m:r>
                                          <m:r>
                                            <a:rPr lang="zh-CN" altLang="en-US" sz="1600" i="1">
                                              <a:latin typeface="Cambria Math" panose="02040503050406030204" pitchFamily="18" charset="0"/>
                                            </a:rPr>
                                            <m:t>𝐻</m:t>
                                          </m:r>
                                        </m:den>
                                      </m:f>
                                      <m:func>
                                        <m:funcPr>
                                          <m:ctrlPr>
                                            <a:rPr lang="zh-CN" altLang="en-US" sz="1600" i="1">
                                              <a:latin typeface="Cambria Math" panose="02040503050406030204" pitchFamily="18" charset="0"/>
                                            </a:rPr>
                                          </m:ctrlPr>
                                        </m:funcPr>
                                        <m:fName>
                                          <m:r>
                                            <m:rPr>
                                              <m:sty m:val="p"/>
                                            </m:rPr>
                                            <a:rPr lang="zh-CN" altLang="en-US" sz="1600" i="0">
                                              <a:latin typeface="Cambria Math" panose="02040503050406030204" pitchFamily="18" charset="0"/>
                                            </a:rPr>
                                            <m:t>sin</m:t>
                                          </m:r>
                                        </m:fName>
                                        <m:e>
                                          <m:r>
                                            <a:rPr lang="zh-CN" altLang="en-US" sz="1600" i="1">
                                              <a:latin typeface="Cambria Math" panose="02040503050406030204" pitchFamily="18" charset="0"/>
                                            </a:rPr>
                                            <m:t>𝛼</m:t>
                                          </m:r>
                                        </m:e>
                                      </m:func>
                                      <m:r>
                                        <a:rPr lang="zh-CN" altLang="en-US" sz="1600" i="1">
                                          <a:latin typeface="Cambria Math" panose="02040503050406030204" pitchFamily="18" charset="0"/>
                                        </a:rPr>
                                        <m:t>𝑧</m:t>
                                      </m:r>
                                    </m:e>
                                  </m:d>
                                </m:e>
                                <m:sup>
                                  <m:r>
                                    <a:rPr lang="zh-CN" altLang="en-US" sz="1600" i="0">
                                      <a:latin typeface="Cambria Math" panose="02040503050406030204" pitchFamily="18" charset="0"/>
                                    </a:rPr>
                                    <m:t>2</m:t>
                                  </m:r>
                                </m:sup>
                              </m:sSup>
                            </m:e>
                          </m:d>
                        </m:e>
                        <m:sup>
                          <m:r>
                            <a:rPr lang="zh-CN" altLang="en-US" sz="1600" i="0">
                              <a:latin typeface="Cambria Math" panose="02040503050406030204" pitchFamily="18" charset="0"/>
                            </a:rPr>
                            <m:t>−1/2</m:t>
                          </m:r>
                        </m:sup>
                      </m:sSup>
                    </m:oMath>
                  </m:oMathPara>
                </a14:m>
                <a:endParaRPr lang="zh-CN" altLang="en-US" dirty="0"/>
              </a:p>
            </p:txBody>
          </p:sp>
        </mc:Choice>
        <mc:Fallback xmlns="">
          <p:sp>
            <p:nvSpPr>
              <p:cNvPr id="5" name="文本框 4">
                <a:extLst>
                  <a:ext uri="{FF2B5EF4-FFF2-40B4-BE49-F238E27FC236}">
                    <a16:creationId xmlns:a16="http://schemas.microsoft.com/office/drawing/2014/main" id="{E74A30F9-6A5B-340E-A723-FCF879C613EA}"/>
                  </a:ext>
                </a:extLst>
              </p:cNvPr>
              <p:cNvSpPr txBox="1">
                <a:spLocks noRot="1" noChangeAspect="1" noMove="1" noResize="1" noEditPoints="1" noAdjustHandles="1" noChangeArrowheads="1" noChangeShapeType="1" noTextEdit="1"/>
              </p:cNvSpPr>
              <p:nvPr/>
            </p:nvSpPr>
            <p:spPr>
              <a:xfrm>
                <a:off x="3995936" y="1920289"/>
                <a:ext cx="4968552" cy="130292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9ECA1E1-9C4F-89BB-637A-7AD2ACDB24A3}"/>
                  </a:ext>
                </a:extLst>
              </p:cNvPr>
              <p:cNvSpPr txBox="1"/>
              <p:nvPr/>
            </p:nvSpPr>
            <p:spPr>
              <a:xfrm>
                <a:off x="313200" y="1543061"/>
                <a:ext cx="2120090" cy="3806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600" i="1" smtClean="0">
                          <a:latin typeface="Cambria Math" panose="02040503050406030204" pitchFamily="18" charset="0"/>
                        </a:rPr>
                        <m:t>𝑉𝑇𝐸𝐶</m:t>
                      </m:r>
                      <m:r>
                        <a:rPr lang="zh-CN" altLang="en-US" sz="1600" i="0">
                          <a:latin typeface="Cambria Math" panose="02040503050406030204" pitchFamily="18" charset="0"/>
                        </a:rPr>
                        <m:t>=</m:t>
                      </m:r>
                      <m:r>
                        <a:rPr lang="zh-CN" altLang="en-US" sz="1600" i="1">
                          <a:latin typeface="Cambria Math" panose="02040503050406030204" pitchFamily="18" charset="0"/>
                        </a:rPr>
                        <m:t>𝑚</m:t>
                      </m:r>
                      <m:d>
                        <m:dPr>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𝑧</m:t>
                          </m:r>
                          <m:sSup>
                            <m:sSupPr>
                              <m:ctrlPr>
                                <a:rPr lang="zh-CN" altLang="en-US" sz="1600" i="1">
                                  <a:latin typeface="Cambria Math" panose="02040503050406030204" pitchFamily="18" charset="0"/>
                                </a:rPr>
                              </m:ctrlPr>
                            </m:sSupPr>
                            <m:e>
                              <m:d>
                                <m:dPr>
                                  <m:begChr m:val=""/>
                                  <m:endChr m:val=""/>
                                  <m:ctrlPr>
                                    <a:rPr lang="zh-CN" altLang="en-US" sz="1600" i="1">
                                      <a:latin typeface="Cambria Math" panose="02040503050406030204" pitchFamily="18" charset="0"/>
                                    </a:rPr>
                                  </m:ctrlPr>
                                </m:dPr>
                                <m:e>
                                  <m:r>
                                    <a:rPr lang="zh-CN" altLang="en-US" sz="1600" i="0">
                                      <a:latin typeface="Cambria Math" panose="02040503050406030204" pitchFamily="18" charset="0"/>
                                    </a:rPr>
                                    <m:t>)</m:t>
                                  </m:r>
                                </m:e>
                              </m:d>
                            </m:e>
                            <m:sup>
                              <m:r>
                                <a:rPr lang="zh-CN" altLang="en-US" sz="1600" i="0">
                                  <a:latin typeface="Cambria Math" panose="02040503050406030204" pitchFamily="18" charset="0"/>
                                </a:rPr>
                                <m:t>−1</m:t>
                              </m:r>
                            </m:sup>
                          </m:sSup>
                          <m:r>
                            <a:rPr lang="zh-CN" altLang="en-US" sz="1600" i="1">
                              <a:latin typeface="Cambria Math" panose="02040503050406030204" pitchFamily="18" charset="0"/>
                            </a:rPr>
                            <m:t>𝑆𝑇𝐸𝐶</m:t>
                          </m:r>
                        </m:e>
                      </m:d>
                    </m:oMath>
                  </m:oMathPara>
                </a14:m>
                <a:endParaRPr lang="zh-CN" altLang="en-US" dirty="0"/>
              </a:p>
            </p:txBody>
          </p:sp>
        </mc:Choice>
        <mc:Fallback xmlns="">
          <p:sp>
            <p:nvSpPr>
              <p:cNvPr id="6" name="文本框 5">
                <a:extLst>
                  <a:ext uri="{FF2B5EF4-FFF2-40B4-BE49-F238E27FC236}">
                    <a16:creationId xmlns:a16="http://schemas.microsoft.com/office/drawing/2014/main" id="{29ECA1E1-9C4F-89BB-637A-7AD2ACDB24A3}"/>
                  </a:ext>
                </a:extLst>
              </p:cNvPr>
              <p:cNvSpPr txBox="1">
                <a:spLocks noRot="1" noChangeAspect="1" noMove="1" noResize="1" noEditPoints="1" noAdjustHandles="1" noChangeArrowheads="1" noChangeShapeType="1" noTextEdit="1"/>
              </p:cNvSpPr>
              <p:nvPr/>
            </p:nvSpPr>
            <p:spPr>
              <a:xfrm>
                <a:off x="313200" y="1543061"/>
                <a:ext cx="2120090" cy="380617"/>
              </a:xfrm>
              <a:prstGeom prst="rect">
                <a:avLst/>
              </a:prstGeom>
              <a:blipFill>
                <a:blip r:embed="rId6"/>
                <a:stretch>
                  <a:fillRect t="-136508" b="-2095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CBD1741A-D00C-0750-9EC4-D347545AE06D}"/>
                  </a:ext>
                </a:extLst>
              </p:cNvPr>
              <p:cNvSpPr txBox="1"/>
              <p:nvPr/>
            </p:nvSpPr>
            <p:spPr>
              <a:xfrm>
                <a:off x="5076056" y="3291830"/>
                <a:ext cx="1250662"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𝛼</m:t>
                      </m:r>
                      <m:r>
                        <a:rPr lang="en-US" altLang="zh-CN" sz="1600" b="0" i="1" smtClean="0">
                          <a:latin typeface="Cambria Math" panose="02040503050406030204" pitchFamily="18" charset="0"/>
                        </a:rPr>
                        <m:t>=0.9782</m:t>
                      </m:r>
                    </m:oMath>
                  </m:oMathPara>
                </a14:m>
                <a:endParaRPr lang="en-US" altLang="zh-CN" sz="1600" b="0" dirty="0"/>
              </a:p>
            </p:txBody>
          </p:sp>
        </mc:Choice>
        <mc:Fallback xmlns="">
          <p:sp>
            <p:nvSpPr>
              <p:cNvPr id="2" name="文本框 1">
                <a:extLst>
                  <a:ext uri="{FF2B5EF4-FFF2-40B4-BE49-F238E27FC236}">
                    <a16:creationId xmlns:a16="http://schemas.microsoft.com/office/drawing/2014/main" id="{CBD1741A-D00C-0750-9EC4-D347545AE06D}"/>
                  </a:ext>
                </a:extLst>
              </p:cNvPr>
              <p:cNvSpPr txBox="1">
                <a:spLocks noRot="1" noChangeAspect="1" noMove="1" noResize="1" noEditPoints="1" noAdjustHandles="1" noChangeArrowheads="1" noChangeShapeType="1" noTextEdit="1"/>
              </p:cNvSpPr>
              <p:nvPr/>
            </p:nvSpPr>
            <p:spPr>
              <a:xfrm>
                <a:off x="5076056" y="3291830"/>
                <a:ext cx="1250662" cy="33855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3874A45-08E0-58B2-66FB-B3D1EE08F6F7}"/>
                  </a:ext>
                </a:extLst>
              </p:cNvPr>
              <p:cNvSpPr txBox="1"/>
              <p:nvPr/>
            </p:nvSpPr>
            <p:spPr>
              <a:xfrm>
                <a:off x="5004048" y="3596016"/>
                <a:ext cx="1800200" cy="6155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rPr>
                        <m:t>𝐻</m:t>
                      </m:r>
                      <m:r>
                        <a:rPr lang="en-US" altLang="zh-CN" sz="1600" i="1">
                          <a:latin typeface="Cambria Math" panose="02040503050406030204" pitchFamily="18" charset="0"/>
                        </a:rPr>
                        <m:t>=506700[</m:t>
                      </m:r>
                      <m:r>
                        <a:rPr lang="en-US" altLang="zh-CN" sz="1600" i="1">
                          <a:latin typeface="Cambria Math" panose="02040503050406030204" pitchFamily="18" charset="0"/>
                        </a:rPr>
                        <m:t>𝑚</m:t>
                      </m:r>
                      <m:r>
                        <a:rPr lang="en-US" altLang="zh-CN" sz="1600" i="1">
                          <a:latin typeface="Cambria Math" panose="02040503050406030204" pitchFamily="18" charset="0"/>
                        </a:rPr>
                        <m:t>]</m:t>
                      </m:r>
                    </m:oMath>
                  </m:oMathPara>
                </a14:m>
                <a:endParaRPr lang="zh-CN" altLang="en-US" sz="1600" dirty="0"/>
              </a:p>
              <a:p>
                <a:endParaRPr lang="zh-CN" altLang="en-US" dirty="0"/>
              </a:p>
            </p:txBody>
          </p:sp>
        </mc:Choice>
        <mc:Fallback xmlns="">
          <p:sp>
            <p:nvSpPr>
              <p:cNvPr id="3" name="文本框 2">
                <a:extLst>
                  <a:ext uri="{FF2B5EF4-FFF2-40B4-BE49-F238E27FC236}">
                    <a16:creationId xmlns:a16="http://schemas.microsoft.com/office/drawing/2014/main" id="{03874A45-08E0-58B2-66FB-B3D1EE08F6F7}"/>
                  </a:ext>
                </a:extLst>
              </p:cNvPr>
              <p:cNvSpPr txBox="1">
                <a:spLocks noRot="1" noChangeAspect="1" noMove="1" noResize="1" noEditPoints="1" noAdjustHandles="1" noChangeArrowheads="1" noChangeShapeType="1" noTextEdit="1"/>
              </p:cNvSpPr>
              <p:nvPr/>
            </p:nvSpPr>
            <p:spPr>
              <a:xfrm>
                <a:off x="5004048" y="3596016"/>
                <a:ext cx="1800200" cy="615553"/>
              </a:xfrm>
              <a:prstGeom prst="rect">
                <a:avLst/>
              </a:prstGeom>
              <a:blipFill>
                <a:blip r:embed="rId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36584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951A0-8D33-69E1-270A-E19D8B46CFF2}"/>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F16DCE65-5CA0-537C-B568-00F5932390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5576" y="1131590"/>
            <a:ext cx="7342546" cy="3483049"/>
          </a:xfrm>
          <a:prstGeom prst="rect">
            <a:avLst/>
          </a:prstGeom>
        </p:spPr>
      </p:pic>
      <p:sp>
        <p:nvSpPr>
          <p:cNvPr id="5" name="Titel 2">
            <a:extLst>
              <a:ext uri="{FF2B5EF4-FFF2-40B4-BE49-F238E27FC236}">
                <a16:creationId xmlns:a16="http://schemas.microsoft.com/office/drawing/2014/main" id="{D69A4025-1963-2D12-502D-872E972B1EA6}"/>
              </a:ext>
            </a:extLst>
          </p:cNvPr>
          <p:cNvSpPr txBox="1">
            <a:spLocks/>
          </p:cNvSpPr>
          <p:nvPr/>
        </p:nvSpPr>
        <p:spPr>
          <a:xfrm>
            <a:off x="319091" y="411510"/>
            <a:ext cx="8508999" cy="3777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hlinkClick r:id="rId4" action="ppaction://hlinksldjump"/>
              </a:rPr>
              <a:t>DORIS VTEC processing: Work Flow</a:t>
            </a:r>
            <a:endParaRPr lang="en-US" dirty="0">
              <a:solidFill>
                <a:sysClr val="windowText" lastClr="000000"/>
              </a:solidFill>
              <a:latin typeface="Arial"/>
            </a:endParaRPr>
          </a:p>
        </p:txBody>
      </p:sp>
    </p:spTree>
    <p:extLst>
      <p:ext uri="{BB962C8B-B14F-4D97-AF65-F5344CB8AC3E}">
        <p14:creationId xmlns:p14="http://schemas.microsoft.com/office/powerpoint/2010/main" val="16495581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4E8DA-9521-4C75-21E5-D8BE805BEF71}"/>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C35CDD07-CF5F-18DB-CF9D-808C7011BE35}"/>
              </a:ext>
            </a:extLst>
          </p:cNvPr>
          <p:cNvPicPr>
            <a:picLocks noChangeAspect="1"/>
          </p:cNvPicPr>
          <p:nvPr/>
        </p:nvPicPr>
        <p:blipFill>
          <a:blip r:embed="rId3"/>
          <a:stretch>
            <a:fillRect/>
          </a:stretch>
        </p:blipFill>
        <p:spPr>
          <a:xfrm>
            <a:off x="684000" y="1058400"/>
            <a:ext cx="6861200" cy="3632400"/>
          </a:xfrm>
          <a:prstGeom prst="rect">
            <a:avLst/>
          </a:prstGeom>
        </p:spPr>
      </p:pic>
      <p:sp>
        <p:nvSpPr>
          <p:cNvPr id="2" name="Titel 2">
            <a:extLst>
              <a:ext uri="{FF2B5EF4-FFF2-40B4-BE49-F238E27FC236}">
                <a16:creationId xmlns:a16="http://schemas.microsoft.com/office/drawing/2014/main" id="{A28EBD28-A6F9-17B4-6738-BA10F0506099}"/>
              </a:ext>
            </a:extLst>
          </p:cNvPr>
          <p:cNvSpPr txBox="1">
            <a:spLocks/>
          </p:cNvSpPr>
          <p:nvPr/>
        </p:nvSpPr>
        <p:spPr>
          <a:xfrm>
            <a:off x="319091" y="411510"/>
            <a:ext cx="8508999" cy="3777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rPr>
              <a:t>DORIS E</a:t>
            </a:r>
            <a:r>
              <a:rPr lang="en-US" altLang="zh-CN" dirty="0">
                <a:solidFill>
                  <a:sysClr val="windowText" lastClr="000000"/>
                </a:solidFill>
                <a:latin typeface="Arial"/>
              </a:rPr>
              <a:t>levation Mask</a:t>
            </a:r>
            <a:endParaRPr lang="en-US" dirty="0">
              <a:solidFill>
                <a:sysClr val="windowText" lastClr="000000"/>
              </a:solidFill>
              <a:latin typeface="Arial"/>
            </a:endParaRPr>
          </a:p>
        </p:txBody>
      </p:sp>
    </p:spTree>
    <p:extLst>
      <p:ext uri="{BB962C8B-B14F-4D97-AF65-F5344CB8AC3E}">
        <p14:creationId xmlns:p14="http://schemas.microsoft.com/office/powerpoint/2010/main" val="5244214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A4323-0A6F-C83E-8E18-D6CFC955B177}"/>
            </a:ext>
          </a:extLst>
        </p:cNvPr>
        <p:cNvGrpSpPr/>
        <p:nvPr/>
      </p:nvGrpSpPr>
      <p:grpSpPr>
        <a:xfrm>
          <a:off x="0" y="0"/>
          <a:ext cx="0" cy="0"/>
          <a:chOff x="0" y="0"/>
          <a:chExt cx="0" cy="0"/>
        </a:xfrm>
      </p:grpSpPr>
      <p:sp>
        <p:nvSpPr>
          <p:cNvPr id="2" name="Titel 2">
            <a:extLst>
              <a:ext uri="{FF2B5EF4-FFF2-40B4-BE49-F238E27FC236}">
                <a16:creationId xmlns:a16="http://schemas.microsoft.com/office/drawing/2014/main" id="{F0898A3F-7862-819F-060E-E19D0C7114E0}"/>
              </a:ext>
            </a:extLst>
          </p:cNvPr>
          <p:cNvSpPr txBox="1">
            <a:spLocks/>
          </p:cNvSpPr>
          <p:nvPr/>
        </p:nvSpPr>
        <p:spPr>
          <a:xfrm>
            <a:off x="319091" y="411510"/>
            <a:ext cx="8508999" cy="3777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rPr>
              <a:t>DORIS E</a:t>
            </a:r>
            <a:r>
              <a:rPr lang="en-US" altLang="zh-CN" dirty="0">
                <a:solidFill>
                  <a:sysClr val="windowText" lastClr="000000"/>
                </a:solidFill>
                <a:latin typeface="Arial"/>
              </a:rPr>
              <a:t>levation Mask</a:t>
            </a:r>
            <a:endParaRPr lang="en-US" dirty="0">
              <a:solidFill>
                <a:sysClr val="windowText" lastClr="000000"/>
              </a:solidFill>
              <a:latin typeface="Arial"/>
            </a:endParaRPr>
          </a:p>
        </p:txBody>
      </p:sp>
      <p:pic>
        <p:nvPicPr>
          <p:cNvPr id="4" name="图片 3">
            <a:extLst>
              <a:ext uri="{FF2B5EF4-FFF2-40B4-BE49-F238E27FC236}">
                <a16:creationId xmlns:a16="http://schemas.microsoft.com/office/drawing/2014/main" id="{F8D82C0B-BDFC-B2E2-0BC8-29236FDBDA65}"/>
              </a:ext>
            </a:extLst>
          </p:cNvPr>
          <p:cNvPicPr>
            <a:picLocks noChangeAspect="1"/>
          </p:cNvPicPr>
          <p:nvPr/>
        </p:nvPicPr>
        <p:blipFill>
          <a:blip r:embed="rId3"/>
          <a:stretch>
            <a:fillRect/>
          </a:stretch>
        </p:blipFill>
        <p:spPr>
          <a:xfrm>
            <a:off x="611560" y="1204512"/>
            <a:ext cx="7040894" cy="3520447"/>
          </a:xfrm>
          <a:prstGeom prst="rect">
            <a:avLst/>
          </a:prstGeom>
        </p:spPr>
      </p:pic>
    </p:spTree>
    <p:extLst>
      <p:ext uri="{BB962C8B-B14F-4D97-AF65-F5344CB8AC3E}">
        <p14:creationId xmlns:p14="http://schemas.microsoft.com/office/powerpoint/2010/main" val="25093350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07AAF-8848-7F40-5AA1-97ABB4935382}"/>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F04CDEE6-039E-3514-126D-34C4F5A45734}"/>
              </a:ext>
            </a:extLst>
          </p:cNvPr>
          <p:cNvPicPr>
            <a:picLocks noChangeAspect="1"/>
          </p:cNvPicPr>
          <p:nvPr/>
        </p:nvPicPr>
        <p:blipFill>
          <a:blip r:embed="rId3"/>
          <a:srcRect t="27997" b="23009"/>
          <a:stretch>
            <a:fillRect/>
          </a:stretch>
        </p:blipFill>
        <p:spPr>
          <a:xfrm>
            <a:off x="0" y="2052000"/>
            <a:ext cx="9144000" cy="2520000"/>
          </a:xfrm>
          <a:prstGeom prst="rect">
            <a:avLst/>
          </a:prstGeom>
        </p:spPr>
      </p:pic>
      <p:sp>
        <p:nvSpPr>
          <p:cNvPr id="11" name="Titel 2">
            <a:extLst>
              <a:ext uri="{FF2B5EF4-FFF2-40B4-BE49-F238E27FC236}">
                <a16:creationId xmlns:a16="http://schemas.microsoft.com/office/drawing/2014/main" id="{21002A44-DF23-4775-7639-D2C88D75943D}"/>
              </a:ext>
            </a:extLst>
          </p:cNvPr>
          <p:cNvSpPr txBox="1">
            <a:spLocks/>
          </p:cNvSpPr>
          <p:nvPr/>
        </p:nvSpPr>
        <p:spPr>
          <a:xfrm>
            <a:off x="1332362" y="628650"/>
            <a:ext cx="6210690" cy="1314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1500"/>
              </a:lnSpc>
              <a:spcAft>
                <a:spcPts val="900"/>
              </a:spcAft>
            </a:pPr>
            <a:endParaRPr lang="en-US" sz="1050" dirty="0">
              <a:latin typeface="Arial" panose="020B0604020202020204" pitchFamily="34" charset="0"/>
              <a:cs typeface="Arial" panose="020B0604020202020204" pitchFamily="34" charset="0"/>
            </a:endParaRPr>
          </a:p>
        </p:txBody>
      </p:sp>
      <p:sp>
        <p:nvSpPr>
          <p:cNvPr id="4" name="Titel 2">
            <a:extLst>
              <a:ext uri="{FF2B5EF4-FFF2-40B4-BE49-F238E27FC236}">
                <a16:creationId xmlns:a16="http://schemas.microsoft.com/office/drawing/2014/main" id="{72EEA65A-A34F-5C72-A51C-FE976213E08D}"/>
              </a:ext>
            </a:extLst>
          </p:cNvPr>
          <p:cNvSpPr txBox="1">
            <a:spLocks/>
          </p:cNvSpPr>
          <p:nvPr/>
        </p:nvSpPr>
        <p:spPr>
          <a:xfrm>
            <a:off x="319091" y="411510"/>
            <a:ext cx="8508999" cy="3777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hlinkClick r:id="rId4" action="ppaction://hlinksldjump"/>
              </a:rPr>
              <a:t>DORIS Station Distribution</a:t>
            </a:r>
            <a:endParaRPr lang="en-US" dirty="0">
              <a:solidFill>
                <a:sysClr val="windowText" lastClr="000000"/>
              </a:solidFill>
              <a:latin typeface="Arial"/>
            </a:endParaRPr>
          </a:p>
        </p:txBody>
      </p:sp>
      <p:sp>
        <p:nvSpPr>
          <p:cNvPr id="5" name="文本框 4">
            <a:extLst>
              <a:ext uri="{FF2B5EF4-FFF2-40B4-BE49-F238E27FC236}">
                <a16:creationId xmlns:a16="http://schemas.microsoft.com/office/drawing/2014/main" id="{FC9D76ED-B272-95D1-50E3-6384AA6380F0}"/>
              </a:ext>
            </a:extLst>
          </p:cNvPr>
          <p:cNvSpPr txBox="1"/>
          <p:nvPr/>
        </p:nvSpPr>
        <p:spPr>
          <a:xfrm>
            <a:off x="313200" y="987574"/>
            <a:ext cx="6779080" cy="992388"/>
          </a:xfrm>
          <a:prstGeom prst="rect">
            <a:avLst/>
          </a:prstGeom>
          <a:noFill/>
        </p:spPr>
        <p:txBody>
          <a:bodyPr wrap="square">
            <a:spAutoFit/>
          </a:bodyPr>
          <a:lstStyle/>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IPPs with longer distances to nearest DORIS stations show higher RMS</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Effect most visible in low-latitude active ionospheric regions</a:t>
            </a:r>
          </a:p>
          <a:p>
            <a:pPr marL="457200" indent="-457200">
              <a:lnSpc>
                <a:spcPts val="2000"/>
              </a:lnSpc>
              <a:spcAft>
                <a:spcPts val="600"/>
              </a:spcAft>
              <a:buFont typeface="Arial" panose="020B0604020202020204" pitchFamily="34" charset="0"/>
              <a:buChar char="•"/>
            </a:pPr>
            <a:r>
              <a:rPr lang="en-US" altLang="zh-CN" sz="1400" dirty="0">
                <a:latin typeface="Arial" panose="020B0604020202020204" pitchFamily="34" charset="0"/>
                <a:cs typeface="Arial" panose="020B0604020202020204" pitchFamily="34" charset="0"/>
              </a:rPr>
              <a:t>High-latitude regions show weaker correlation (e.g., Bering Strait)</a:t>
            </a:r>
          </a:p>
        </p:txBody>
      </p:sp>
    </p:spTree>
    <p:extLst>
      <p:ext uri="{BB962C8B-B14F-4D97-AF65-F5344CB8AC3E}">
        <p14:creationId xmlns:p14="http://schemas.microsoft.com/office/powerpoint/2010/main" val="24279860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DE5BC81-8EDA-8AAA-9F9A-C354E119B126}"/>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59E2768A-7DA2-4212-D689-7543D995F69A}"/>
              </a:ext>
            </a:extLst>
          </p:cNvPr>
          <p:cNvPicPr>
            <a:picLocks noChangeAspect="1"/>
          </p:cNvPicPr>
          <p:nvPr/>
        </p:nvPicPr>
        <p:blipFill>
          <a:blip r:embed="rId3"/>
          <a:stretch>
            <a:fillRect/>
          </a:stretch>
        </p:blipFill>
        <p:spPr>
          <a:xfrm>
            <a:off x="731512" y="789306"/>
            <a:ext cx="7680975" cy="3840488"/>
          </a:xfrm>
          <a:prstGeom prst="rect">
            <a:avLst/>
          </a:prstGeom>
        </p:spPr>
      </p:pic>
      <p:sp>
        <p:nvSpPr>
          <p:cNvPr id="4" name="Titel 2">
            <a:extLst>
              <a:ext uri="{FF2B5EF4-FFF2-40B4-BE49-F238E27FC236}">
                <a16:creationId xmlns:a16="http://schemas.microsoft.com/office/drawing/2014/main" id="{04E2BA82-CC2C-A62A-0CEB-C7CE24F6735F}"/>
              </a:ext>
            </a:extLst>
          </p:cNvPr>
          <p:cNvSpPr txBox="1">
            <a:spLocks/>
          </p:cNvSpPr>
          <p:nvPr/>
        </p:nvSpPr>
        <p:spPr>
          <a:xfrm>
            <a:off x="319091" y="411510"/>
            <a:ext cx="8508999" cy="37779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0" fontAlgn="base" hangingPunct="0">
              <a:lnSpc>
                <a:spcPts val="3200"/>
              </a:lnSpc>
              <a:spcBef>
                <a:spcPct val="0"/>
              </a:spcBef>
              <a:spcAft>
                <a:spcPct val="0"/>
              </a:spcAft>
              <a:defRPr lang="de-DE" sz="2400" b="1" kern="1200" noProof="0" dirty="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a:lstStyle>
          <a:p>
            <a:pPr lvl="0">
              <a:defRPr/>
            </a:pPr>
            <a:r>
              <a:rPr lang="en-US" dirty="0">
                <a:solidFill>
                  <a:sysClr val="windowText" lastClr="000000"/>
                </a:solidFill>
                <a:latin typeface="Arial"/>
              </a:rPr>
              <a:t>DORIS-based Altimetry VTEC STD</a:t>
            </a:r>
          </a:p>
        </p:txBody>
      </p:sp>
    </p:spTree>
    <p:extLst>
      <p:ext uri="{BB962C8B-B14F-4D97-AF65-F5344CB8AC3E}">
        <p14:creationId xmlns:p14="http://schemas.microsoft.com/office/powerpoint/2010/main" val="648408392"/>
      </p:ext>
    </p:extLst>
  </p:cSld>
  <p:clrMapOvr>
    <a:masterClrMapping/>
  </p:clrMapOvr>
</p:sld>
</file>

<file path=ppt/theme/theme1.xml><?xml version="1.0" encoding="utf-8"?>
<a:theme xmlns:a="http://schemas.openxmlformats.org/drawingml/2006/main" name="Titel 3">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Arial"/>
        <a:cs typeface="Arial"/>
      </a:majorFont>
      <a:minorFont>
        <a:latin typeface="Arial"/>
        <a:ea typeface="Arial"/>
        <a:cs typeface="Arial"/>
      </a:minorFont>
    </a:fontScheme>
    <a:fmtScheme name="Larissa">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prstGeom prst="rect">
          <a:avLst/>
        </a:prstGeom>
        <a:ln>
          <a:noFill/>
        </a:ln>
      </a:spPr>
      <a:bodyPr/>
      <a:lstStyle/>
      <a:style>
        <a:lnRef idx="2">
          <a:schemeClr val="accent1">
            <a:shade val="50000"/>
          </a:schemeClr>
        </a:lnRef>
        <a:fillRef idx="1">
          <a:schemeClr val="accent1"/>
        </a:fillRef>
        <a:effectRef idx="0">
          <a:schemeClr val="accent1"/>
        </a:effectRef>
        <a:fontRef idx="minor">
          <a:schemeClr val="lt1"/>
        </a:fontRef>
      </a:style>
    </a:spDef>
    <a:txDef>
      <a:spPr bwMode="auto">
        <a:prstGeom prst="rect">
          <a:avLst/>
        </a:prstGeom>
        <a:noFill/>
      </a:spPr>
      <a:bodyPr/>
      <a:lstStyle/>
    </a:txDef>
  </a:objectDefaults>
  <a:extraClrSchemeLst/>
</a:theme>
</file>

<file path=ppt/theme/theme2.xml><?xml version="1.0" encoding="utf-8"?>
<a:theme xmlns:a="http://schemas.openxmlformats.org/drawingml/2006/main" name="Benutzerdefiniertes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2563</TotalTime>
  <Words>2688</Words>
  <Application>Microsoft Office PowerPoint</Application>
  <DocSecurity>0</DocSecurity>
  <PresentationFormat>全屏显示(16:9)</PresentationFormat>
  <Paragraphs>183</Paragraphs>
  <Slides>26</Slides>
  <Notes>25</Notes>
  <HiddenSlides>1</HiddenSlides>
  <MMClips>1</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26</vt:i4>
      </vt:variant>
    </vt:vector>
  </HeadingPairs>
  <TitlesOfParts>
    <vt:vector size="34" baseType="lpstr">
      <vt:lpstr>等线</vt:lpstr>
      <vt:lpstr>Arial</vt:lpstr>
      <vt:lpstr>Calibri</vt:lpstr>
      <vt:lpstr>Cambria Math</vt:lpstr>
      <vt:lpstr>Symbol</vt:lpstr>
      <vt:lpstr>Wingdings</vt:lpstr>
      <vt:lpstr>Titel 3</vt:lpstr>
      <vt:lpstr>Benutzerdefiniertes Design</vt:lpstr>
      <vt:lpstr> Using DORIS for extracting ionospheric information at satellite altimetry observation points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contribution TUM – Baltic+ SEAL</dc:title>
  <dc:subject/>
  <dc:creator>dgfipc01</dc:creator>
  <cp:keywords/>
  <dc:description/>
  <cp:lastModifiedBy>Harry Potter</cp:lastModifiedBy>
  <cp:revision>1052</cp:revision>
  <dcterms:modified xsi:type="dcterms:W3CDTF">2025-09-02T11:26:52Z</dcterms:modified>
  <cp:category/>
  <dc:identifier/>
  <cp:contentStatus/>
  <dc:language/>
  <cp:version/>
</cp:coreProperties>
</file>